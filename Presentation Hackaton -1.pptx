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BC2FA-E529-4CC5-9D94-0A7EBCD36462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D0C9A-1E17-4604-8945-957DBEB228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744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D0C9A-1E17-4604-8945-957DBEB228EA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1946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564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209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592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420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451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8079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274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15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418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387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8846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4657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2609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49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1737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0716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179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5463FA0-1768-4095-9F24-714B91626191}" type="datetimeFigureOut">
              <a:rPr lang="it-IT" smtClean="0"/>
              <a:t>26/04/2026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8E3CA-8C08-4D0F-813C-478A1F883B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96006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CA945E17-AE44-6218-A43F-59F1D84B119F}"/>
              </a:ext>
            </a:extLst>
          </p:cNvPr>
          <p:cNvSpPr txBox="1"/>
          <p:nvPr/>
        </p:nvSpPr>
        <p:spPr>
          <a:xfrm>
            <a:off x="1061884" y="910612"/>
            <a:ext cx="12044516" cy="861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Neural Networks for Regression: An Exploration of Activation Functions</a:t>
            </a:r>
          </a:p>
          <a:p>
            <a:r>
              <a:rPr lang="en-US" sz="3200" dirty="0"/>
              <a:t>Predicting California Housing Prices</a:t>
            </a:r>
          </a:p>
          <a:p>
            <a:r>
              <a:rPr lang="en-US" sz="2000" b="1" dirty="0"/>
              <a:t>Group Name/Members:</a:t>
            </a:r>
            <a:r>
              <a:rPr lang="en-US" dirty="0"/>
              <a:t> </a:t>
            </a:r>
            <a:r>
              <a:rPr lang="en-US" b="1" dirty="0"/>
              <a:t>UH</a:t>
            </a:r>
            <a:r>
              <a:rPr lang="en-US" dirty="0"/>
              <a:t> </a:t>
            </a:r>
            <a:r>
              <a:rPr lang="en-US" b="1" dirty="0"/>
              <a:t>ML - </a:t>
            </a:r>
            <a:r>
              <a:rPr lang="en-US" b="1" dirty="0" err="1"/>
              <a:t>Hackaton</a:t>
            </a:r>
            <a:r>
              <a:rPr lang="en-US" b="1" dirty="0"/>
              <a:t> Group 3/Atif Ahmed</a:t>
            </a:r>
          </a:p>
          <a:p>
            <a:r>
              <a:rPr lang="en-US" b="1" dirty="0"/>
              <a:t>                                                                                               Sana Amber</a:t>
            </a:r>
          </a:p>
          <a:p>
            <a:r>
              <a:rPr lang="en-US" b="1" dirty="0"/>
              <a:t>                                                                                               </a:t>
            </a:r>
            <a:r>
              <a:rPr lang="en-US" b="1" dirty="0" err="1"/>
              <a:t>Sabthami</a:t>
            </a:r>
            <a:r>
              <a:rPr lang="en-US" b="1" dirty="0"/>
              <a:t> Balasubramanian</a:t>
            </a:r>
          </a:p>
          <a:p>
            <a:r>
              <a:rPr lang="en-US" b="1" dirty="0"/>
              <a:t>                                                                                               Dunja Calianno</a:t>
            </a:r>
          </a:p>
          <a:p>
            <a:r>
              <a:rPr lang="en-US" b="1" dirty="0"/>
              <a:t>                                                                                               Akash </a:t>
            </a:r>
            <a:r>
              <a:rPr lang="en-US" b="1" dirty="0" err="1"/>
              <a:t>Govardhane</a:t>
            </a:r>
            <a:endParaRPr lang="en-US" b="1" dirty="0"/>
          </a:p>
          <a:p>
            <a:r>
              <a:rPr lang="en-US" b="1" dirty="0"/>
              <a:t>                                                                                               Srilekha </a:t>
            </a:r>
            <a:r>
              <a:rPr lang="en-US" b="1" dirty="0" err="1"/>
              <a:t>Pachaiyappan</a:t>
            </a:r>
            <a:endParaRPr lang="en-US" b="1" dirty="0"/>
          </a:p>
          <a:p>
            <a:r>
              <a:rPr lang="en-US" b="1" dirty="0"/>
              <a:t>                                                                                               Iffat Naeem Ali Shaikh</a:t>
            </a:r>
          </a:p>
          <a:p>
            <a:r>
              <a:rPr lang="en-US" b="1" dirty="0"/>
              <a:t>                                                                                               Mohammad Moaz Tahir </a:t>
            </a:r>
          </a:p>
          <a:p>
            <a:endParaRPr lang="en-US" b="1" dirty="0"/>
          </a:p>
          <a:p>
            <a:endParaRPr lang="en-US" b="1" dirty="0"/>
          </a:p>
          <a:p>
            <a:endParaRPr lang="it-IT" dirty="0"/>
          </a:p>
          <a:p>
            <a:r>
              <a:rPr lang="it-IT" dirty="0"/>
              <a:t>  </a:t>
            </a:r>
          </a:p>
          <a:p>
            <a:r>
              <a:rPr lang="it-IT"/>
              <a:t>Date: 26/04/2026                                                                            </a:t>
            </a:r>
            <a:endParaRPr lang="it-IT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Date: April 28th, 2026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914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4D4D4A0-0187-A86A-13A1-AE7F7ED79D5D}"/>
              </a:ext>
            </a:extLst>
          </p:cNvPr>
          <p:cNvSpPr txBox="1"/>
          <p:nvPr/>
        </p:nvSpPr>
        <p:spPr>
          <a:xfrm>
            <a:off x="1081549" y="38591"/>
            <a:ext cx="9006348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Introduction &amp; Problem Statement</a:t>
            </a:r>
          </a:p>
          <a:p>
            <a:r>
              <a:rPr lang="en-US" dirty="0"/>
              <a:t>What is Regression? Regression is a statistical method used to predict a continuous outcome based on one or more input variables.</a:t>
            </a:r>
          </a:p>
          <a:p>
            <a:endParaRPr lang="en-US" dirty="0"/>
          </a:p>
          <a:p>
            <a:r>
              <a:rPr lang="en-US" sz="2800" b="1" dirty="0"/>
              <a:t>Goal</a:t>
            </a:r>
            <a:r>
              <a:rPr lang="en-US" b="1" dirty="0"/>
              <a:t>:</a:t>
            </a:r>
            <a:r>
              <a:rPr lang="en-US" dirty="0"/>
              <a:t> To predict a continuous output variable based on one or more input variables.</a:t>
            </a:r>
          </a:p>
          <a:p>
            <a:endParaRPr lang="en-US" dirty="0"/>
          </a:p>
          <a:p>
            <a:r>
              <a:rPr lang="en-US" sz="2800" b="1" dirty="0"/>
              <a:t>Examples:</a:t>
            </a:r>
            <a:r>
              <a:rPr lang="en-US" dirty="0"/>
              <a:t> Predicting house prices, stock prices, temperature, sales figures.</a:t>
            </a:r>
          </a:p>
          <a:p>
            <a:endParaRPr lang="en-US" dirty="0"/>
          </a:p>
          <a:p>
            <a:r>
              <a:rPr lang="en-US" sz="2800" b="1" dirty="0"/>
              <a:t>Why Neural Networks for Regression?</a:t>
            </a:r>
            <a:r>
              <a:rPr lang="en-US" dirty="0"/>
              <a:t> Neural Networks (NNs) are powerful models capable of learning complex, non-linear relationships between inputs and outputs. They excel in high-dimensional data and can automatically extract features.</a:t>
            </a:r>
          </a:p>
          <a:p>
            <a:endParaRPr lang="en-US" dirty="0"/>
          </a:p>
          <a:p>
            <a:r>
              <a:rPr lang="en-US" sz="2800" b="1" dirty="0"/>
              <a:t>Our Goal:</a:t>
            </a:r>
            <a:r>
              <a:rPr lang="en-US" dirty="0"/>
              <a:t> To build and evaluate Neural Networks to predict California Housing Prices.</a:t>
            </a:r>
          </a:p>
          <a:p>
            <a:endParaRPr lang="en-US" dirty="0"/>
          </a:p>
          <a:p>
            <a:r>
              <a:rPr lang="en-US" sz="2800" b="1" dirty="0"/>
              <a:t>Key Focus: </a:t>
            </a:r>
            <a:r>
              <a:rPr lang="en-US" dirty="0"/>
              <a:t>Investigating how different activation functions (specifically </a:t>
            </a:r>
            <a:r>
              <a:rPr lang="en-US" dirty="0" err="1"/>
              <a:t>ReLU</a:t>
            </a:r>
            <a:r>
              <a:rPr lang="en-US" dirty="0"/>
              <a:t> and Tanh) impact the performance and learning capabilities of NNs in a regression context.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37923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6F44DC79-7E7F-D3B9-6287-28EE9EEE3E61}"/>
              </a:ext>
            </a:extLst>
          </p:cNvPr>
          <p:cNvSpPr txBox="1"/>
          <p:nvPr/>
        </p:nvSpPr>
        <p:spPr>
          <a:xfrm>
            <a:off x="49161" y="0"/>
            <a:ext cx="12142839" cy="6953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Dataset </a:t>
            </a:r>
            <a:r>
              <a:rPr lang="it-IT" sz="2400" b="1" dirty="0" err="1"/>
              <a:t>Overview</a:t>
            </a:r>
            <a:r>
              <a:rPr lang="it-IT" sz="2400" b="1" dirty="0"/>
              <a:t> - California Housing Prices - Source   </a:t>
            </a:r>
          </a:p>
          <a:p>
            <a:endParaRPr lang="it-IT" dirty="0"/>
          </a:p>
          <a:p>
            <a:r>
              <a:rPr lang="it-IT" sz="2000" dirty="0"/>
              <a:t>The California Housing Prices Dataset </a:t>
            </a:r>
            <a:r>
              <a:rPr lang="it-IT" sz="2000" dirty="0" err="1"/>
              <a:t>is</a:t>
            </a:r>
            <a:r>
              <a:rPr lang="it-IT" sz="2000" dirty="0"/>
              <a:t> a </a:t>
            </a:r>
            <a:r>
              <a:rPr lang="it-IT" sz="2000" dirty="0" err="1"/>
              <a:t>well-known</a:t>
            </a:r>
            <a:r>
              <a:rPr lang="it-IT" sz="2000" dirty="0"/>
              <a:t> benchmark dataset, </a:t>
            </a:r>
            <a:r>
              <a:rPr lang="it-IT" sz="2000" dirty="0" err="1"/>
              <a:t>readily</a:t>
            </a:r>
            <a:r>
              <a:rPr lang="it-IT" sz="2000" dirty="0"/>
              <a:t> </a:t>
            </a:r>
            <a:r>
              <a:rPr lang="it-IT" sz="2000" dirty="0" err="1"/>
              <a:t>available</a:t>
            </a:r>
            <a:r>
              <a:rPr lang="it-IT" sz="2000" dirty="0"/>
              <a:t> </a:t>
            </a:r>
            <a:r>
              <a:rPr lang="it-IT" sz="2000" dirty="0" err="1"/>
              <a:t>through</a:t>
            </a:r>
            <a:r>
              <a:rPr lang="it-IT" sz="2000" dirty="0"/>
              <a:t> </a:t>
            </a:r>
            <a:r>
              <a:rPr lang="it-IT" sz="2000" dirty="0" err="1"/>
              <a:t>scikit-learn</a:t>
            </a:r>
            <a:r>
              <a:rPr lang="it-IT" sz="2000" dirty="0"/>
              <a:t>.</a:t>
            </a:r>
          </a:p>
          <a:p>
            <a:endParaRPr lang="it-IT" dirty="0"/>
          </a:p>
          <a:p>
            <a:r>
              <a:rPr lang="it-IT" sz="2400" b="1" dirty="0"/>
              <a:t>Key Features:   </a:t>
            </a:r>
          </a:p>
          <a:p>
            <a:r>
              <a:rPr lang="it-IT" sz="2400" b="1" dirty="0" err="1"/>
              <a:t>MedInc</a:t>
            </a:r>
            <a:r>
              <a:rPr lang="it-IT" sz="2400" b="1" dirty="0"/>
              <a:t> (Median </a:t>
            </a:r>
            <a:r>
              <a:rPr lang="it-IT" sz="2400" b="1" dirty="0" err="1"/>
              <a:t>Income</a:t>
            </a:r>
            <a:r>
              <a:rPr lang="it-IT" sz="2400" b="1" dirty="0"/>
              <a:t>): </a:t>
            </a:r>
            <a:r>
              <a:rPr lang="it-IT" sz="2000" dirty="0"/>
              <a:t>Median </a:t>
            </a:r>
            <a:r>
              <a:rPr lang="it-IT" sz="2000" dirty="0" err="1"/>
              <a:t>income</a:t>
            </a:r>
            <a:r>
              <a:rPr lang="it-IT" sz="2000" dirty="0"/>
              <a:t> for </a:t>
            </a:r>
            <a:r>
              <a:rPr lang="it-IT" sz="2000" dirty="0" err="1"/>
              <a:t>households</a:t>
            </a:r>
            <a:r>
              <a:rPr lang="it-IT" sz="2000" dirty="0"/>
              <a:t> </a:t>
            </a:r>
            <a:r>
              <a:rPr lang="it-IT" sz="2000" dirty="0" err="1"/>
              <a:t>within</a:t>
            </a:r>
            <a:r>
              <a:rPr lang="it-IT" sz="2000" dirty="0"/>
              <a:t> a </a:t>
            </a:r>
            <a:r>
              <a:rPr lang="it-IT" sz="2000" dirty="0" err="1"/>
              <a:t>block</a:t>
            </a:r>
            <a:r>
              <a:rPr lang="it-IT" sz="2000" dirty="0"/>
              <a:t> group.  </a:t>
            </a:r>
          </a:p>
          <a:p>
            <a:r>
              <a:rPr lang="it-IT" sz="2400" b="1" dirty="0" err="1"/>
              <a:t>HouseAge</a:t>
            </a:r>
            <a:r>
              <a:rPr lang="it-IT" sz="2400" b="1" dirty="0"/>
              <a:t>: </a:t>
            </a:r>
            <a:r>
              <a:rPr lang="it-IT" sz="2000" dirty="0"/>
              <a:t>Median house age in </a:t>
            </a:r>
            <a:r>
              <a:rPr lang="it-IT" sz="2000" dirty="0" err="1"/>
              <a:t>years</a:t>
            </a:r>
            <a:r>
              <a:rPr lang="it-IT" sz="2000" dirty="0"/>
              <a:t> </a:t>
            </a:r>
            <a:r>
              <a:rPr lang="it-IT" sz="2000" dirty="0" err="1"/>
              <a:t>within</a:t>
            </a:r>
            <a:r>
              <a:rPr lang="it-IT" sz="2000" dirty="0"/>
              <a:t> a </a:t>
            </a:r>
            <a:r>
              <a:rPr lang="it-IT" sz="2000" dirty="0" err="1"/>
              <a:t>block</a:t>
            </a:r>
            <a:r>
              <a:rPr lang="it-IT" sz="2000" dirty="0"/>
              <a:t> group.   </a:t>
            </a:r>
          </a:p>
          <a:p>
            <a:r>
              <a:rPr lang="it-IT" sz="2400" b="1" dirty="0" err="1"/>
              <a:t>AveRooms</a:t>
            </a:r>
            <a:r>
              <a:rPr lang="it-IT" sz="2400" b="1" dirty="0"/>
              <a:t>:</a:t>
            </a:r>
            <a:r>
              <a:rPr lang="it-IT" sz="2000" dirty="0"/>
              <a:t> </a:t>
            </a:r>
            <a:r>
              <a:rPr lang="it-IT" sz="2000" dirty="0" err="1"/>
              <a:t>Average</a:t>
            </a:r>
            <a:r>
              <a:rPr lang="it-IT" sz="2000" dirty="0"/>
              <a:t> </a:t>
            </a:r>
            <a:r>
              <a:rPr lang="it-IT" sz="2000" dirty="0" err="1"/>
              <a:t>number</a:t>
            </a:r>
            <a:r>
              <a:rPr lang="it-IT" sz="2000" dirty="0"/>
              <a:t> of rooms per </a:t>
            </a:r>
            <a:r>
              <a:rPr lang="it-IT" sz="2000" dirty="0" err="1"/>
              <a:t>household</a:t>
            </a:r>
            <a:r>
              <a:rPr lang="it-IT" sz="2000" dirty="0"/>
              <a:t>.   </a:t>
            </a:r>
          </a:p>
          <a:p>
            <a:r>
              <a:rPr lang="it-IT" sz="2400" b="1" dirty="0" err="1"/>
              <a:t>AveBedrms</a:t>
            </a:r>
            <a:r>
              <a:rPr lang="it-IT" sz="2400" b="1" dirty="0"/>
              <a:t>: </a:t>
            </a:r>
            <a:r>
              <a:rPr lang="it-IT" sz="2000" dirty="0" err="1"/>
              <a:t>Average</a:t>
            </a:r>
            <a:r>
              <a:rPr lang="it-IT" sz="2000" dirty="0"/>
              <a:t> </a:t>
            </a:r>
            <a:r>
              <a:rPr lang="it-IT" sz="2000" dirty="0" err="1"/>
              <a:t>number</a:t>
            </a:r>
            <a:r>
              <a:rPr lang="it-IT" sz="2000" dirty="0"/>
              <a:t> of </a:t>
            </a:r>
            <a:r>
              <a:rPr lang="it-IT" sz="2000" dirty="0" err="1"/>
              <a:t>bedrooms</a:t>
            </a:r>
            <a:r>
              <a:rPr lang="it-IT" sz="2000" dirty="0"/>
              <a:t> per </a:t>
            </a:r>
            <a:r>
              <a:rPr lang="it-IT" sz="2000" dirty="0" err="1"/>
              <a:t>household</a:t>
            </a:r>
            <a:r>
              <a:rPr lang="it-IT" sz="2000" dirty="0"/>
              <a:t>.   </a:t>
            </a:r>
          </a:p>
          <a:p>
            <a:r>
              <a:rPr lang="it-IT" sz="2400" b="1" dirty="0" err="1"/>
              <a:t>Population</a:t>
            </a:r>
            <a:r>
              <a:rPr lang="it-IT" sz="2400" b="1" dirty="0"/>
              <a:t>:</a:t>
            </a:r>
            <a:r>
              <a:rPr lang="it-IT" sz="2000" dirty="0"/>
              <a:t> Total </a:t>
            </a:r>
            <a:r>
              <a:rPr lang="it-IT" sz="2000" dirty="0" err="1"/>
              <a:t>population</a:t>
            </a:r>
            <a:r>
              <a:rPr lang="it-IT" sz="2000" dirty="0"/>
              <a:t> </a:t>
            </a:r>
            <a:r>
              <a:rPr lang="it-IT" sz="2000" dirty="0" err="1"/>
              <a:t>within</a:t>
            </a:r>
            <a:r>
              <a:rPr lang="it-IT" sz="2000" dirty="0"/>
              <a:t> a </a:t>
            </a:r>
            <a:r>
              <a:rPr lang="it-IT" sz="2000" dirty="0" err="1"/>
              <a:t>block</a:t>
            </a:r>
            <a:r>
              <a:rPr lang="it-IT" sz="2000" dirty="0"/>
              <a:t> group.</a:t>
            </a:r>
          </a:p>
          <a:p>
            <a:r>
              <a:rPr lang="it-IT" sz="2400" b="1" dirty="0" err="1"/>
              <a:t>AveOccup</a:t>
            </a:r>
            <a:r>
              <a:rPr lang="it-IT" sz="2400" b="1" dirty="0"/>
              <a:t>: </a:t>
            </a:r>
            <a:r>
              <a:rPr lang="it-IT" sz="2000" dirty="0" err="1"/>
              <a:t>Average</a:t>
            </a:r>
            <a:r>
              <a:rPr lang="it-IT" sz="2000" dirty="0"/>
              <a:t> </a:t>
            </a:r>
            <a:r>
              <a:rPr lang="it-IT" sz="2000" dirty="0" err="1"/>
              <a:t>number</a:t>
            </a:r>
            <a:r>
              <a:rPr lang="it-IT" sz="2000" dirty="0"/>
              <a:t> of </a:t>
            </a:r>
            <a:r>
              <a:rPr lang="it-IT" sz="2000" dirty="0" err="1"/>
              <a:t>household</a:t>
            </a:r>
            <a:r>
              <a:rPr lang="it-IT" sz="2000" dirty="0"/>
              <a:t> </a:t>
            </a:r>
            <a:r>
              <a:rPr lang="it-IT" sz="2000" dirty="0" err="1"/>
              <a:t>members</a:t>
            </a:r>
            <a:r>
              <a:rPr lang="it-IT" sz="2000" dirty="0"/>
              <a:t>.   </a:t>
            </a:r>
          </a:p>
          <a:p>
            <a:r>
              <a:rPr lang="it-IT" sz="2400" b="1" dirty="0" err="1"/>
              <a:t>Latitude</a:t>
            </a:r>
            <a:r>
              <a:rPr lang="it-IT" sz="2400" b="1" dirty="0"/>
              <a:t> &amp; </a:t>
            </a:r>
            <a:r>
              <a:rPr lang="it-IT" sz="2400" b="1" dirty="0" err="1"/>
              <a:t>Longitude</a:t>
            </a:r>
            <a:r>
              <a:rPr lang="it-IT" sz="2400" b="1" dirty="0"/>
              <a:t>: </a:t>
            </a:r>
            <a:r>
              <a:rPr lang="it-IT" sz="2000" dirty="0" err="1"/>
              <a:t>Geographical</a:t>
            </a:r>
            <a:r>
              <a:rPr lang="it-IT" sz="2000" dirty="0"/>
              <a:t> </a:t>
            </a:r>
            <a:r>
              <a:rPr lang="it-IT" sz="2000" dirty="0" err="1"/>
              <a:t>coordinates.Target</a:t>
            </a:r>
            <a:r>
              <a:rPr lang="it-IT" sz="2000" dirty="0"/>
              <a:t> </a:t>
            </a:r>
            <a:r>
              <a:rPr lang="it-IT" sz="2000" dirty="0" err="1"/>
              <a:t>Variable</a:t>
            </a:r>
            <a:r>
              <a:rPr lang="it-IT" sz="2000" dirty="0"/>
              <a:t>   </a:t>
            </a:r>
          </a:p>
          <a:p>
            <a:r>
              <a:rPr lang="it-IT" sz="2400" b="1" dirty="0"/>
              <a:t>MEDV (Median House Value): </a:t>
            </a:r>
            <a:r>
              <a:rPr lang="it-IT" sz="2000" dirty="0"/>
              <a:t>The </a:t>
            </a:r>
            <a:r>
              <a:rPr lang="it-IT" sz="2000" dirty="0" err="1"/>
              <a:t>median</a:t>
            </a:r>
            <a:r>
              <a:rPr lang="it-IT" sz="2000" dirty="0"/>
              <a:t> house </a:t>
            </a:r>
            <a:r>
              <a:rPr lang="it-IT" sz="2000" dirty="0" err="1"/>
              <a:t>value</a:t>
            </a:r>
            <a:r>
              <a:rPr lang="it-IT" sz="2000" dirty="0"/>
              <a:t> for California </a:t>
            </a:r>
            <a:r>
              <a:rPr lang="it-IT" sz="2000" dirty="0" err="1"/>
              <a:t>districts</a:t>
            </a:r>
            <a:r>
              <a:rPr lang="it-IT" sz="2000" dirty="0"/>
              <a:t>, </a:t>
            </a:r>
            <a:r>
              <a:rPr lang="it-IT" sz="2000" dirty="0" err="1"/>
              <a:t>expressed</a:t>
            </a:r>
            <a:r>
              <a:rPr lang="it-IT" sz="2000" dirty="0"/>
              <a:t> in </a:t>
            </a:r>
            <a:r>
              <a:rPr lang="it-IT" sz="2000" dirty="0" err="1"/>
              <a:t>hundreds</a:t>
            </a:r>
            <a:r>
              <a:rPr lang="it-IT" sz="2000" dirty="0"/>
              <a:t> of </a:t>
            </a:r>
            <a:r>
              <a:rPr lang="it-IT" sz="2000" dirty="0" err="1"/>
              <a:t>thousands</a:t>
            </a:r>
            <a:r>
              <a:rPr lang="it-IT" sz="2000" dirty="0"/>
              <a:t> of </a:t>
            </a:r>
            <a:r>
              <a:rPr lang="it-IT" sz="2000" dirty="0" err="1"/>
              <a:t>dollars</a:t>
            </a:r>
            <a:r>
              <a:rPr lang="it-IT" sz="2000" dirty="0"/>
              <a:t>.</a:t>
            </a:r>
          </a:p>
          <a:p>
            <a:r>
              <a:rPr lang="it-IT" sz="2400" b="1" dirty="0"/>
              <a:t>Dataset </a:t>
            </a:r>
            <a:r>
              <a:rPr lang="it-IT" sz="2400" b="1" dirty="0" err="1"/>
              <a:t>Characteristics</a:t>
            </a:r>
            <a:r>
              <a:rPr lang="it-IT" sz="2400" b="1" dirty="0"/>
              <a:t>:</a:t>
            </a:r>
          </a:p>
          <a:p>
            <a:r>
              <a:rPr lang="it-IT" sz="2400" b="1" dirty="0"/>
              <a:t>Number of Samples: </a:t>
            </a:r>
            <a:r>
              <a:rPr lang="it-IT" sz="2000" dirty="0" err="1"/>
              <a:t>Approximately</a:t>
            </a:r>
            <a:r>
              <a:rPr lang="it-IT" sz="2000" dirty="0"/>
              <a:t> 20,640 </a:t>
            </a:r>
            <a:r>
              <a:rPr lang="it-IT" sz="2000" dirty="0" err="1"/>
              <a:t>instances</a:t>
            </a:r>
            <a:r>
              <a:rPr lang="it-IT" sz="2000" dirty="0"/>
              <a:t>.   </a:t>
            </a:r>
          </a:p>
          <a:p>
            <a:r>
              <a:rPr lang="it-IT" sz="2400" b="1" dirty="0"/>
              <a:t>Number of Features: </a:t>
            </a:r>
            <a:r>
              <a:rPr lang="it-IT" sz="2000" dirty="0"/>
              <a:t>8 input features (</a:t>
            </a:r>
            <a:r>
              <a:rPr lang="it-IT" sz="2000" dirty="0" err="1"/>
              <a:t>all</a:t>
            </a:r>
            <a:r>
              <a:rPr lang="it-IT" sz="2000" dirty="0"/>
              <a:t> </a:t>
            </a:r>
            <a:r>
              <a:rPr lang="it-IT" sz="2000" dirty="0" err="1"/>
              <a:t>numerical</a:t>
            </a:r>
            <a:r>
              <a:rPr lang="it-IT" sz="2000" dirty="0"/>
              <a:t>) + 1 target </a:t>
            </a:r>
            <a:r>
              <a:rPr lang="it-IT" sz="2000" dirty="0" err="1"/>
              <a:t>variable</a:t>
            </a:r>
            <a:r>
              <a:rPr lang="it-IT" sz="2000" dirty="0"/>
              <a:t>.   </a:t>
            </a:r>
          </a:p>
          <a:p>
            <a:r>
              <a:rPr lang="it-IT" sz="2400" b="1" dirty="0"/>
              <a:t>Data </a:t>
            </a:r>
            <a:r>
              <a:rPr lang="it-IT" sz="2400" b="1" dirty="0" err="1"/>
              <a:t>Type</a:t>
            </a:r>
            <a:r>
              <a:rPr lang="it-IT" sz="2400" b="1" dirty="0"/>
              <a:t>:  </a:t>
            </a:r>
            <a:r>
              <a:rPr lang="it-IT" sz="2000" dirty="0"/>
              <a:t>All features are float64.</a:t>
            </a:r>
          </a:p>
        </p:txBody>
      </p:sp>
    </p:spTree>
    <p:extLst>
      <p:ext uri="{BB962C8B-B14F-4D97-AF65-F5344CB8AC3E}">
        <p14:creationId xmlns:p14="http://schemas.microsoft.com/office/powerpoint/2010/main" val="3650028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22D5D8F-683C-8483-F9DD-5FB83B7A71C3}"/>
              </a:ext>
            </a:extLst>
          </p:cNvPr>
          <p:cNvSpPr txBox="1"/>
          <p:nvPr/>
        </p:nvSpPr>
        <p:spPr>
          <a:xfrm>
            <a:off x="88490" y="189971"/>
            <a:ext cx="1203468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 err="1"/>
              <a:t>Exploratory</a:t>
            </a:r>
            <a:r>
              <a:rPr lang="it-IT" sz="2800" b="1" dirty="0"/>
              <a:t> Data Analysis (EDA) Highlights </a:t>
            </a:r>
          </a:p>
          <a:p>
            <a:endParaRPr lang="it-IT" dirty="0"/>
          </a:p>
          <a:p>
            <a:r>
              <a:rPr lang="it-IT" sz="2000" b="1" dirty="0" err="1"/>
              <a:t>Objective</a:t>
            </a:r>
            <a:r>
              <a:rPr lang="it-IT" sz="2000" b="1" dirty="0"/>
              <a:t>: </a:t>
            </a:r>
            <a:r>
              <a:rPr lang="it-IT" sz="2000" b="1" dirty="0" err="1"/>
              <a:t>Understand</a:t>
            </a:r>
            <a:r>
              <a:rPr lang="it-IT" sz="2000" b="1" dirty="0"/>
              <a:t> data </a:t>
            </a:r>
            <a:r>
              <a:rPr lang="it-IT" sz="2000" b="1" dirty="0" err="1"/>
              <a:t>distributions</a:t>
            </a:r>
            <a:r>
              <a:rPr lang="it-IT" sz="2000" b="1" dirty="0"/>
              <a:t>, </a:t>
            </a:r>
            <a:r>
              <a:rPr lang="it-IT" sz="2000" b="1" dirty="0" err="1"/>
              <a:t>identify</a:t>
            </a:r>
            <a:r>
              <a:rPr lang="it-IT" sz="2000" b="1" dirty="0"/>
              <a:t> </a:t>
            </a:r>
            <a:r>
              <a:rPr lang="it-IT" sz="2000" b="1" dirty="0" err="1"/>
              <a:t>relationships</a:t>
            </a:r>
            <a:r>
              <a:rPr lang="it-IT" sz="2000" b="1" dirty="0"/>
              <a:t>, and </a:t>
            </a:r>
            <a:r>
              <a:rPr lang="it-IT" sz="2000" b="1" dirty="0" err="1"/>
              <a:t>detect</a:t>
            </a:r>
            <a:r>
              <a:rPr lang="it-IT" sz="2000" b="1" dirty="0"/>
              <a:t> </a:t>
            </a:r>
            <a:r>
              <a:rPr lang="it-IT" sz="2000" b="1" dirty="0" err="1"/>
              <a:t>potential</a:t>
            </a:r>
            <a:r>
              <a:rPr lang="it-IT" sz="2000" b="1" dirty="0"/>
              <a:t> </a:t>
            </a:r>
            <a:r>
              <a:rPr lang="it-IT" sz="2000" b="1" dirty="0" err="1"/>
              <a:t>issues</a:t>
            </a:r>
            <a:r>
              <a:rPr lang="it-IT" sz="2000" b="1" dirty="0"/>
              <a:t>.</a:t>
            </a:r>
          </a:p>
          <a:p>
            <a:endParaRPr lang="it-IT" dirty="0"/>
          </a:p>
          <a:p>
            <a:r>
              <a:rPr lang="it-IT" sz="2000" b="1" dirty="0"/>
              <a:t>Key </a:t>
            </a:r>
            <a:r>
              <a:rPr lang="it-IT" sz="2000" b="1" dirty="0" err="1"/>
              <a:t>Observations</a:t>
            </a:r>
            <a:endParaRPr lang="it-IT" sz="2000" b="1" dirty="0"/>
          </a:p>
          <a:p>
            <a:endParaRPr lang="it-IT" dirty="0"/>
          </a:p>
          <a:p>
            <a:r>
              <a:rPr lang="it-IT" sz="2000" b="1" dirty="0"/>
              <a:t>Distribution of MEDV: </a:t>
            </a:r>
            <a:r>
              <a:rPr lang="it-IT" dirty="0"/>
              <a:t>(</a:t>
            </a:r>
            <a:r>
              <a:rPr lang="it-IT" dirty="0" err="1"/>
              <a:t>Refer</a:t>
            </a:r>
            <a:r>
              <a:rPr lang="it-IT" dirty="0"/>
              <a:t> to </a:t>
            </a:r>
            <a:r>
              <a:rPr lang="it-IT" dirty="0" err="1"/>
              <a:t>histogram</a:t>
            </a:r>
            <a:r>
              <a:rPr lang="it-IT" dirty="0"/>
              <a:t> plot from notebook) The target </a:t>
            </a:r>
            <a:r>
              <a:rPr lang="it-IT" dirty="0" err="1"/>
              <a:t>variable</a:t>
            </a:r>
            <a:r>
              <a:rPr lang="it-IT" dirty="0"/>
              <a:t> (MEDV) shows a </a:t>
            </a:r>
            <a:r>
              <a:rPr lang="it-IT" dirty="0" err="1"/>
              <a:t>right-skewed</a:t>
            </a:r>
            <a:r>
              <a:rPr lang="it-IT" dirty="0"/>
              <a:t> </a:t>
            </a:r>
            <a:r>
              <a:rPr lang="it-IT" dirty="0" err="1"/>
              <a:t>distribution</a:t>
            </a:r>
            <a:r>
              <a:rPr lang="it-IT" dirty="0"/>
              <a:t>, </a:t>
            </a:r>
            <a:r>
              <a:rPr lang="it-IT" dirty="0" err="1"/>
              <a:t>indicating</a:t>
            </a:r>
            <a:r>
              <a:rPr lang="it-IT" dirty="0"/>
              <a:t> more </a:t>
            </a:r>
            <a:r>
              <a:rPr lang="it-IT" dirty="0" err="1"/>
              <a:t>lower-priced</a:t>
            </a:r>
            <a:r>
              <a:rPr lang="it-IT" dirty="0"/>
              <a:t> </a:t>
            </a:r>
            <a:r>
              <a:rPr lang="it-IT" dirty="0" err="1"/>
              <a:t>homes</a:t>
            </a:r>
            <a:r>
              <a:rPr lang="it-IT" dirty="0"/>
              <a:t> and a </a:t>
            </a:r>
            <a:r>
              <a:rPr lang="it-IT" dirty="0" err="1"/>
              <a:t>tail</a:t>
            </a:r>
            <a:r>
              <a:rPr lang="it-IT" dirty="0"/>
              <a:t> </a:t>
            </a:r>
            <a:r>
              <a:rPr lang="it-IT" dirty="0" err="1"/>
              <a:t>towards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might</a:t>
            </a:r>
            <a:r>
              <a:rPr lang="it-IT" dirty="0"/>
              <a:t> </a:t>
            </a:r>
            <a:r>
              <a:rPr lang="it-IT" dirty="0" err="1"/>
              <a:t>require</a:t>
            </a:r>
            <a:r>
              <a:rPr lang="it-IT" dirty="0"/>
              <a:t>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handling</a:t>
            </a:r>
            <a:r>
              <a:rPr lang="it-IT" dirty="0"/>
              <a:t> in </a:t>
            </a:r>
            <a:r>
              <a:rPr lang="it-IT" dirty="0" err="1"/>
              <a:t>advanced</a:t>
            </a:r>
            <a:r>
              <a:rPr lang="it-IT" dirty="0"/>
              <a:t> models or </a:t>
            </a:r>
            <a:r>
              <a:rPr lang="it-IT" dirty="0" err="1"/>
              <a:t>transformation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sz="2000" b="1" dirty="0" err="1"/>
              <a:t>MedInc</a:t>
            </a:r>
            <a:r>
              <a:rPr lang="it-IT" sz="2000" b="1" dirty="0"/>
              <a:t> vs. MEDV:  </a:t>
            </a:r>
            <a:r>
              <a:rPr lang="it-IT" dirty="0"/>
              <a:t>(</a:t>
            </a:r>
            <a:r>
              <a:rPr lang="it-IT" dirty="0" err="1"/>
              <a:t>Refer</a:t>
            </a:r>
            <a:r>
              <a:rPr lang="it-IT" dirty="0"/>
              <a:t> to </a:t>
            </a:r>
            <a:r>
              <a:rPr lang="it-IT" dirty="0" err="1"/>
              <a:t>scatter</a:t>
            </a:r>
            <a:r>
              <a:rPr lang="it-IT" dirty="0"/>
              <a:t> plot from notebook)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strong positive linear </a:t>
            </a:r>
            <a:r>
              <a:rPr lang="it-IT" dirty="0" err="1"/>
              <a:t>correlation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Median </a:t>
            </a:r>
            <a:r>
              <a:rPr lang="it-IT" dirty="0" err="1"/>
              <a:t>Income</a:t>
            </a:r>
            <a:r>
              <a:rPr lang="it-IT" dirty="0"/>
              <a:t> (</a:t>
            </a:r>
            <a:r>
              <a:rPr lang="it-IT" dirty="0" err="1"/>
              <a:t>MedInc</a:t>
            </a:r>
            <a:r>
              <a:rPr lang="it-IT" dirty="0"/>
              <a:t>) and Median House Value (MEDV).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income</a:t>
            </a:r>
            <a:r>
              <a:rPr lang="it-IT" dirty="0"/>
              <a:t> </a:t>
            </a:r>
            <a:r>
              <a:rPr lang="it-IT" dirty="0" err="1"/>
              <a:t>increases</a:t>
            </a:r>
            <a:r>
              <a:rPr lang="it-IT" dirty="0"/>
              <a:t>, house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generally</a:t>
            </a:r>
            <a:r>
              <a:rPr lang="it-IT" dirty="0"/>
              <a:t> </a:t>
            </a:r>
            <a:r>
              <a:rPr lang="it-IT" dirty="0" err="1"/>
              <a:t>increase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sz="2000" b="1" dirty="0" err="1"/>
              <a:t>Correlation</a:t>
            </a:r>
            <a:r>
              <a:rPr lang="it-IT" sz="2000" b="1" dirty="0"/>
              <a:t> </a:t>
            </a:r>
            <a:r>
              <a:rPr lang="it-IT" sz="2000" b="1" dirty="0" err="1"/>
              <a:t>Heatmap</a:t>
            </a:r>
            <a:r>
              <a:rPr lang="it-IT" sz="2000" b="1" dirty="0"/>
              <a:t> </a:t>
            </a:r>
            <a:r>
              <a:rPr lang="it-IT" sz="2000" b="1" dirty="0" err="1"/>
              <a:t>Snippet</a:t>
            </a:r>
            <a:r>
              <a:rPr lang="it-IT" sz="2000" b="1" dirty="0"/>
              <a:t>: </a:t>
            </a:r>
            <a:r>
              <a:rPr lang="it-IT" dirty="0"/>
              <a:t>(</a:t>
            </a:r>
            <a:r>
              <a:rPr lang="it-IT" dirty="0" err="1"/>
              <a:t>Refer</a:t>
            </a:r>
            <a:r>
              <a:rPr lang="it-IT" dirty="0"/>
              <a:t> to </a:t>
            </a:r>
            <a:r>
              <a:rPr lang="it-IT" dirty="0" err="1"/>
              <a:t>heatmap</a:t>
            </a:r>
            <a:r>
              <a:rPr lang="it-IT" dirty="0"/>
              <a:t> from notebook) The </a:t>
            </a:r>
            <a:r>
              <a:rPr lang="it-IT" dirty="0" err="1"/>
              <a:t>correlation</a:t>
            </a:r>
            <a:r>
              <a:rPr lang="it-IT" dirty="0"/>
              <a:t> </a:t>
            </a:r>
            <a:r>
              <a:rPr lang="it-IT" dirty="0" err="1"/>
              <a:t>matrix</a:t>
            </a:r>
            <a:r>
              <a:rPr lang="it-IT" dirty="0"/>
              <a:t> </a:t>
            </a:r>
            <a:r>
              <a:rPr lang="it-IT" dirty="0" err="1"/>
              <a:t>confirmed</a:t>
            </a:r>
            <a:r>
              <a:rPr lang="it-IT" dirty="0"/>
              <a:t> </a:t>
            </a:r>
            <a:r>
              <a:rPr lang="it-IT" dirty="0" err="1"/>
              <a:t>MedInc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</a:t>
            </a:r>
            <a:r>
              <a:rPr lang="it-IT" dirty="0" err="1"/>
              <a:t>strongest</a:t>
            </a:r>
            <a:r>
              <a:rPr lang="it-IT" dirty="0"/>
              <a:t> positive </a:t>
            </a:r>
            <a:r>
              <a:rPr lang="it-IT" dirty="0" err="1"/>
              <a:t>predictor</a:t>
            </a:r>
            <a:r>
              <a:rPr lang="it-IT" dirty="0"/>
              <a:t> of MEDV (</a:t>
            </a:r>
            <a:r>
              <a:rPr lang="it-IT" dirty="0" err="1"/>
              <a:t>correlation</a:t>
            </a:r>
            <a:r>
              <a:rPr lang="it-IT" dirty="0"/>
              <a:t> </a:t>
            </a:r>
            <a:r>
              <a:rPr lang="it-IT" dirty="0" err="1"/>
              <a:t>coefficient</a:t>
            </a:r>
            <a:r>
              <a:rPr lang="it-IT" dirty="0"/>
              <a:t>: ~0.68).    </a:t>
            </a:r>
          </a:p>
          <a:p>
            <a:endParaRPr lang="it-IT" dirty="0"/>
          </a:p>
          <a:p>
            <a:r>
              <a:rPr lang="it-IT" sz="2000" b="1" dirty="0" err="1"/>
              <a:t>Latitude</a:t>
            </a:r>
            <a:r>
              <a:rPr lang="it-IT" sz="2000" b="1" dirty="0"/>
              <a:t> and </a:t>
            </a:r>
            <a:r>
              <a:rPr lang="it-IT" sz="2000" b="1" dirty="0" err="1"/>
              <a:t>Longitude</a:t>
            </a:r>
            <a:r>
              <a:rPr lang="it-IT" sz="2000" b="1" dirty="0"/>
              <a:t>: </a:t>
            </a:r>
            <a:r>
              <a:rPr lang="it-IT" sz="2000" dirty="0"/>
              <a:t>Also</a:t>
            </a:r>
            <a:r>
              <a:rPr lang="it-IT" dirty="0"/>
              <a:t> show </a:t>
            </a:r>
            <a:r>
              <a:rPr lang="it-IT" dirty="0" err="1"/>
              <a:t>significant</a:t>
            </a:r>
            <a:r>
              <a:rPr lang="it-IT" dirty="0"/>
              <a:t> </a:t>
            </a:r>
            <a:r>
              <a:rPr lang="it-IT" dirty="0" err="1"/>
              <a:t>correlations</a:t>
            </a:r>
            <a:r>
              <a:rPr lang="it-IT" dirty="0"/>
              <a:t>, </a:t>
            </a:r>
            <a:r>
              <a:rPr lang="it-IT" dirty="0" err="1"/>
              <a:t>indicating</a:t>
            </a:r>
            <a:r>
              <a:rPr lang="it-IT" dirty="0"/>
              <a:t> the </a:t>
            </a:r>
            <a:r>
              <a:rPr lang="it-IT" dirty="0" err="1"/>
              <a:t>importance</a:t>
            </a:r>
            <a:r>
              <a:rPr lang="it-IT" dirty="0"/>
              <a:t> of location.</a:t>
            </a:r>
          </a:p>
          <a:p>
            <a:endParaRPr lang="it-IT" dirty="0"/>
          </a:p>
          <a:p>
            <a:r>
              <a:rPr lang="it-IT" sz="2000" b="1" dirty="0" err="1"/>
              <a:t>Missing</a:t>
            </a:r>
            <a:r>
              <a:rPr lang="it-IT" sz="2000" b="1" dirty="0"/>
              <a:t> </a:t>
            </a:r>
            <a:r>
              <a:rPr lang="it-IT" sz="2000" b="1" dirty="0" err="1"/>
              <a:t>Values</a:t>
            </a:r>
            <a:r>
              <a:rPr lang="it-IT" sz="2000" b="1" dirty="0"/>
              <a:t>: </a:t>
            </a:r>
            <a:r>
              <a:rPr lang="it-IT" dirty="0" err="1"/>
              <a:t>Crucially</a:t>
            </a:r>
            <a:r>
              <a:rPr lang="it-IT" dirty="0"/>
              <a:t>, no </a:t>
            </a:r>
            <a:r>
              <a:rPr lang="it-IT" dirty="0" err="1"/>
              <a:t>missing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found</a:t>
            </a:r>
            <a:r>
              <a:rPr lang="it-IT" dirty="0"/>
              <a:t> in the dataset, </a:t>
            </a:r>
            <a:r>
              <a:rPr lang="it-IT" dirty="0" err="1"/>
              <a:t>simplifying</a:t>
            </a:r>
            <a:r>
              <a:rPr lang="it-IT" dirty="0"/>
              <a:t> the </a:t>
            </a:r>
            <a:r>
              <a:rPr lang="it-IT" dirty="0" err="1"/>
              <a:t>preprocessing</a:t>
            </a:r>
            <a:r>
              <a:rPr lang="it-IT" dirty="0"/>
              <a:t> step (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confirmed</a:t>
            </a:r>
            <a:r>
              <a:rPr lang="it-IT" dirty="0"/>
              <a:t> by </a:t>
            </a:r>
            <a:r>
              <a:rPr lang="it-IT" dirty="0" err="1"/>
              <a:t>df.isnull</a:t>
            </a:r>
            <a:r>
              <a:rPr lang="it-IT" dirty="0"/>
              <a:t>().sum() output).</a:t>
            </a:r>
          </a:p>
        </p:txBody>
      </p:sp>
    </p:spTree>
    <p:extLst>
      <p:ext uri="{BB962C8B-B14F-4D97-AF65-F5344CB8AC3E}">
        <p14:creationId xmlns:p14="http://schemas.microsoft.com/office/powerpoint/2010/main" val="2828127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67352A-0FE5-32A7-9052-A86736F3E760}"/>
              </a:ext>
            </a:extLst>
          </p:cNvPr>
          <p:cNvSpPr txBox="1"/>
          <p:nvPr/>
        </p:nvSpPr>
        <p:spPr>
          <a:xfrm>
            <a:off x="0" y="0"/>
            <a:ext cx="12192000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000" b="1" dirty="0"/>
              <a:t>Data </a:t>
            </a:r>
            <a:r>
              <a:rPr lang="it-IT" sz="4000" b="1" dirty="0" err="1"/>
              <a:t>Preprocessing</a:t>
            </a:r>
            <a:r>
              <a:rPr lang="it-IT" sz="4000" b="1" dirty="0"/>
              <a:t> Steps</a:t>
            </a:r>
          </a:p>
          <a:p>
            <a:endParaRPr lang="it-IT" sz="4000" b="1" dirty="0"/>
          </a:p>
          <a:p>
            <a:pPr marL="342900" indent="-342900">
              <a:buAutoNum type="arabicPeriod"/>
            </a:pPr>
            <a:r>
              <a:rPr lang="it-IT" sz="2400" b="1" dirty="0"/>
              <a:t>Handling </a:t>
            </a:r>
            <a:r>
              <a:rPr lang="it-IT" sz="2400" b="1" dirty="0" err="1"/>
              <a:t>Missing</a:t>
            </a:r>
            <a:r>
              <a:rPr lang="it-IT" sz="2400" b="1" dirty="0"/>
              <a:t> </a:t>
            </a:r>
            <a:r>
              <a:rPr lang="it-IT" sz="2400" b="1" dirty="0" err="1"/>
              <a:t>Values</a:t>
            </a:r>
            <a:r>
              <a:rPr lang="it-IT" sz="2400" b="1" dirty="0"/>
              <a:t>   </a:t>
            </a:r>
            <a:r>
              <a:rPr lang="it-IT" dirty="0"/>
              <a:t>Based on </a:t>
            </a:r>
            <a:r>
              <a:rPr lang="it-IT" dirty="0" err="1"/>
              <a:t>our</a:t>
            </a:r>
            <a:r>
              <a:rPr lang="it-IT" dirty="0"/>
              <a:t> EDA, no </a:t>
            </a:r>
            <a:r>
              <a:rPr lang="it-IT" dirty="0" err="1"/>
              <a:t>missing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found</a:t>
            </a:r>
            <a:r>
              <a:rPr lang="it-IT" dirty="0"/>
              <a:t> in the California Housing dataset. </a:t>
            </a:r>
            <a:r>
              <a:rPr lang="it-IT" dirty="0" err="1"/>
              <a:t>Therefore</a:t>
            </a:r>
            <a:r>
              <a:rPr lang="it-IT" dirty="0"/>
              <a:t>, no </a:t>
            </a:r>
            <a:r>
              <a:rPr lang="it-IT" dirty="0" err="1"/>
              <a:t>imputation</a:t>
            </a:r>
            <a:r>
              <a:rPr lang="it-IT" dirty="0"/>
              <a:t> strategy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required</a:t>
            </a:r>
            <a:r>
              <a:rPr lang="it-IT" dirty="0"/>
              <a:t> for </a:t>
            </a:r>
            <a:r>
              <a:rPr lang="it-IT" dirty="0" err="1"/>
              <a:t>this</a:t>
            </a:r>
            <a:r>
              <a:rPr lang="it-IT" dirty="0"/>
              <a:t> project. Best Practice Note: Had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been</a:t>
            </a:r>
            <a:r>
              <a:rPr lang="it-IT" dirty="0"/>
              <a:t> </a:t>
            </a:r>
            <a:r>
              <a:rPr lang="it-IT" dirty="0" err="1"/>
              <a:t>missing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, techniques like </a:t>
            </a:r>
            <a:r>
              <a:rPr lang="it-IT" dirty="0" err="1"/>
              <a:t>mean</a:t>
            </a:r>
            <a:r>
              <a:rPr lang="it-IT" dirty="0"/>
              <a:t>/</a:t>
            </a:r>
            <a:r>
              <a:rPr lang="it-IT" dirty="0" err="1"/>
              <a:t>median</a:t>
            </a:r>
            <a:r>
              <a:rPr lang="it-IT" dirty="0"/>
              <a:t> </a:t>
            </a:r>
            <a:r>
              <a:rPr lang="it-IT" dirty="0" err="1"/>
              <a:t>imputation</a:t>
            </a:r>
            <a:r>
              <a:rPr lang="it-IT" dirty="0"/>
              <a:t> or more sophisticated </a:t>
            </a:r>
            <a:r>
              <a:rPr lang="it-IT" dirty="0" err="1"/>
              <a:t>methods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be </a:t>
            </a:r>
            <a:r>
              <a:rPr lang="it-IT" dirty="0" err="1"/>
              <a:t>applied</a:t>
            </a:r>
            <a:r>
              <a:rPr lang="it-IT" dirty="0"/>
              <a:t> </a:t>
            </a:r>
            <a:r>
              <a:rPr lang="it-IT" dirty="0" err="1"/>
              <a:t>here</a:t>
            </a:r>
            <a:r>
              <a:rPr lang="it-IT" dirty="0"/>
              <a:t>.</a:t>
            </a:r>
          </a:p>
          <a:p>
            <a:pPr marL="342900" indent="-342900">
              <a:buAutoNum type="arabicPeriod"/>
            </a:pPr>
            <a:endParaRPr lang="it-IT" dirty="0"/>
          </a:p>
          <a:p>
            <a:pPr marL="342900" indent="-342900">
              <a:buAutoNum type="arabicPeriod"/>
            </a:pPr>
            <a:r>
              <a:rPr lang="it-IT" sz="2400" b="1" dirty="0"/>
              <a:t>Feature Scaling (</a:t>
            </a:r>
            <a:r>
              <a:rPr lang="it-IT" sz="2400" b="1" dirty="0" err="1"/>
              <a:t>Standardization</a:t>
            </a:r>
            <a:r>
              <a:rPr lang="it-IT" sz="2400" b="1" dirty="0"/>
              <a:t>) </a:t>
            </a:r>
            <a:r>
              <a:rPr lang="it-IT" dirty="0"/>
              <a:t>Why </a:t>
            </a:r>
            <a:r>
              <a:rPr lang="it-IT" dirty="0" err="1"/>
              <a:t>it's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for </a:t>
            </a:r>
            <a:r>
              <a:rPr lang="it-IT" dirty="0" err="1"/>
              <a:t>NNs</a:t>
            </a:r>
            <a:r>
              <a:rPr lang="it-IT" dirty="0"/>
              <a:t>: </a:t>
            </a:r>
            <a:r>
              <a:rPr lang="it-IT" dirty="0" err="1"/>
              <a:t>Neural</a:t>
            </a:r>
            <a:r>
              <a:rPr lang="it-IT" dirty="0"/>
              <a:t> networks are </a:t>
            </a:r>
            <a:r>
              <a:rPr lang="it-IT" dirty="0" err="1"/>
              <a:t>highly</a:t>
            </a:r>
            <a:r>
              <a:rPr lang="it-IT" dirty="0"/>
              <a:t> sensitive to the scale of input features. Features with </a:t>
            </a:r>
            <a:r>
              <a:rPr lang="it-IT" dirty="0" err="1"/>
              <a:t>larger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 ranges can dominate the learning </a:t>
            </a:r>
            <a:r>
              <a:rPr lang="it-IT" dirty="0" err="1"/>
              <a:t>process</a:t>
            </a:r>
            <a:r>
              <a:rPr lang="it-IT" dirty="0"/>
              <a:t> and lead to </a:t>
            </a:r>
            <a:r>
              <a:rPr lang="it-IT" dirty="0" err="1"/>
              <a:t>slower</a:t>
            </a:r>
            <a:r>
              <a:rPr lang="it-IT" dirty="0"/>
              <a:t> </a:t>
            </a:r>
            <a:r>
              <a:rPr lang="it-IT" dirty="0" err="1"/>
              <a:t>convergence</a:t>
            </a:r>
            <a:r>
              <a:rPr lang="it-IT" dirty="0"/>
              <a:t> or </a:t>
            </a:r>
            <a:r>
              <a:rPr lang="it-IT" dirty="0" err="1"/>
              <a:t>suboptimal</a:t>
            </a:r>
            <a:r>
              <a:rPr lang="it-IT" dirty="0"/>
              <a:t> weights. Method </a:t>
            </a:r>
            <a:r>
              <a:rPr lang="it-IT" dirty="0" err="1"/>
              <a:t>Used</a:t>
            </a:r>
            <a:r>
              <a:rPr lang="it-IT" dirty="0"/>
              <a:t>: StandardScaler from </a:t>
            </a:r>
            <a:r>
              <a:rPr lang="it-IT" dirty="0" err="1"/>
              <a:t>sklearn.preprocessing</a:t>
            </a:r>
            <a:r>
              <a:rPr lang="it-IT" dirty="0"/>
              <a:t>.    *   </a:t>
            </a:r>
            <a:r>
              <a:rPr lang="it-IT" dirty="0" err="1"/>
              <a:t>Transforms</a:t>
            </a:r>
            <a:r>
              <a:rPr lang="it-IT" dirty="0"/>
              <a:t> features to </a:t>
            </a:r>
            <a:r>
              <a:rPr lang="it-IT" dirty="0" err="1"/>
              <a:t>have</a:t>
            </a:r>
            <a:r>
              <a:rPr lang="it-IT" dirty="0"/>
              <a:t> a </a:t>
            </a:r>
            <a:r>
              <a:rPr lang="it-IT" dirty="0" err="1"/>
              <a:t>mean</a:t>
            </a:r>
            <a:r>
              <a:rPr lang="it-IT" dirty="0"/>
              <a:t> of 0 and a standard </a:t>
            </a:r>
            <a:r>
              <a:rPr lang="it-IT" dirty="0" err="1"/>
              <a:t>deviation</a:t>
            </a:r>
            <a:r>
              <a:rPr lang="it-IT" dirty="0"/>
              <a:t> of 1 (z = (x - μ) / σ).   </a:t>
            </a:r>
            <a:r>
              <a:rPr lang="it-IT" dirty="0" err="1"/>
              <a:t>Importance</a:t>
            </a:r>
            <a:r>
              <a:rPr lang="it-IT" dirty="0"/>
              <a:t>: </a:t>
            </a:r>
            <a:r>
              <a:rPr lang="it-IT" dirty="0" err="1"/>
              <a:t>Ensures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features </a:t>
            </a:r>
            <a:r>
              <a:rPr lang="it-IT" dirty="0" err="1"/>
              <a:t>contribute</a:t>
            </a:r>
            <a:r>
              <a:rPr lang="it-IT" dirty="0"/>
              <a:t> </a:t>
            </a:r>
            <a:r>
              <a:rPr lang="it-IT" dirty="0" err="1"/>
              <a:t>equally</a:t>
            </a:r>
            <a:r>
              <a:rPr lang="it-IT" dirty="0"/>
              <a:t> to the </a:t>
            </a:r>
            <a:r>
              <a:rPr lang="it-IT" dirty="0" err="1"/>
              <a:t>model's</a:t>
            </a:r>
            <a:r>
              <a:rPr lang="it-IT" dirty="0"/>
              <a:t> training and helps </a:t>
            </a: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descent</a:t>
            </a:r>
            <a:r>
              <a:rPr lang="it-IT" dirty="0"/>
              <a:t> converge more </a:t>
            </a:r>
            <a:r>
              <a:rPr lang="it-IT" dirty="0" err="1"/>
              <a:t>efficiently</a:t>
            </a:r>
            <a:r>
              <a:rPr lang="it-IT" dirty="0"/>
              <a:t>.</a:t>
            </a:r>
          </a:p>
          <a:p>
            <a:pPr marL="342900" indent="-342900">
              <a:buAutoNum type="arabicPeriod"/>
            </a:pPr>
            <a:endParaRPr lang="it-IT" dirty="0"/>
          </a:p>
          <a:p>
            <a:pPr marL="342900" indent="-342900">
              <a:buAutoNum type="arabicPeriod"/>
            </a:pPr>
            <a:r>
              <a:rPr lang="it-IT" sz="2400" b="1" dirty="0"/>
              <a:t>Train-Test Split Purpose: </a:t>
            </a:r>
            <a:r>
              <a:rPr lang="it-IT" dirty="0"/>
              <a:t>To </a:t>
            </a:r>
            <a:r>
              <a:rPr lang="it-IT" dirty="0" err="1"/>
              <a:t>evaluate</a:t>
            </a:r>
            <a:r>
              <a:rPr lang="it-IT" dirty="0"/>
              <a:t> the </a:t>
            </a:r>
            <a:r>
              <a:rPr lang="it-IT" dirty="0" err="1"/>
              <a:t>model's</a:t>
            </a:r>
            <a:r>
              <a:rPr lang="it-IT" dirty="0"/>
              <a:t> </a:t>
            </a:r>
            <a:r>
              <a:rPr lang="it-IT" dirty="0" err="1"/>
              <a:t>ability</a:t>
            </a:r>
            <a:r>
              <a:rPr lang="it-IT" dirty="0"/>
              <a:t> to </a:t>
            </a:r>
            <a:r>
              <a:rPr lang="it-IT" dirty="0" err="1"/>
              <a:t>generalize</a:t>
            </a:r>
            <a:r>
              <a:rPr lang="it-IT" dirty="0"/>
              <a:t> to </a:t>
            </a:r>
            <a:r>
              <a:rPr lang="it-IT" dirty="0" err="1"/>
              <a:t>unseen</a:t>
            </a:r>
            <a:r>
              <a:rPr lang="it-IT" dirty="0"/>
              <a:t> data. Split Ratio: The dataset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divided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80% for training (</a:t>
            </a:r>
            <a:r>
              <a:rPr lang="it-IT" dirty="0" err="1"/>
              <a:t>X_train</a:t>
            </a:r>
            <a:r>
              <a:rPr lang="it-IT" dirty="0"/>
              <a:t>, </a:t>
            </a:r>
            <a:r>
              <a:rPr lang="it-IT" dirty="0" err="1"/>
              <a:t>y_train</a:t>
            </a:r>
            <a:r>
              <a:rPr lang="it-IT" dirty="0"/>
              <a:t>) and 20% for testing (</a:t>
            </a:r>
            <a:r>
              <a:rPr lang="it-IT" dirty="0" err="1"/>
              <a:t>X_test</a:t>
            </a:r>
            <a:r>
              <a:rPr lang="it-IT" dirty="0"/>
              <a:t>, </a:t>
            </a:r>
            <a:r>
              <a:rPr lang="it-IT" dirty="0" err="1"/>
              <a:t>y_test</a:t>
            </a:r>
            <a:r>
              <a:rPr lang="it-IT" dirty="0"/>
              <a:t>).   </a:t>
            </a:r>
            <a:r>
              <a:rPr lang="it-IT" dirty="0" err="1"/>
              <a:t>random_state</a:t>
            </a:r>
            <a:r>
              <a:rPr lang="it-IT" dirty="0"/>
              <a:t>=42: </a:t>
            </a:r>
            <a:r>
              <a:rPr lang="it-IT" dirty="0" err="1"/>
              <a:t>Ensures</a:t>
            </a:r>
            <a:r>
              <a:rPr lang="it-IT" dirty="0"/>
              <a:t> </a:t>
            </a:r>
            <a:r>
              <a:rPr lang="it-IT" dirty="0" err="1"/>
              <a:t>reproducibility</a:t>
            </a:r>
            <a:r>
              <a:rPr lang="it-IT" dirty="0"/>
              <a:t> of the split, </a:t>
            </a:r>
            <a:r>
              <a:rPr lang="it-IT" dirty="0" err="1"/>
              <a:t>meaning</a:t>
            </a:r>
            <a:r>
              <a:rPr lang="it-IT" dirty="0"/>
              <a:t> the </a:t>
            </a:r>
            <a:r>
              <a:rPr lang="it-IT" dirty="0" err="1"/>
              <a:t>same</a:t>
            </a:r>
            <a:r>
              <a:rPr lang="it-IT" dirty="0"/>
              <a:t> random split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generated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time the code </a:t>
            </a:r>
            <a:r>
              <a:rPr lang="it-IT" dirty="0" err="1"/>
              <a:t>runs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9533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7C616EF-190A-07B2-FC2D-A333A9638C2B}"/>
              </a:ext>
            </a:extLst>
          </p:cNvPr>
          <p:cNvSpPr txBox="1"/>
          <p:nvPr/>
        </p:nvSpPr>
        <p:spPr>
          <a:xfrm>
            <a:off x="9832" y="105013"/>
            <a:ext cx="12192000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Neural Networks for Regression: Basics NN Architecture</a:t>
            </a:r>
          </a:p>
          <a:p>
            <a:r>
              <a:rPr lang="en-US" b="1" dirty="0"/>
              <a:t>Input Layer: </a:t>
            </a:r>
            <a:r>
              <a:rPr lang="en-US" dirty="0"/>
              <a:t>Receives the scaled features of the dataset (e.g., 9 input features for California Housing).   </a:t>
            </a:r>
            <a:r>
              <a:rPr lang="en-US" b="1" dirty="0"/>
              <a:t>Hidden Layers: </a:t>
            </a:r>
            <a:r>
              <a:rPr lang="en-US" dirty="0"/>
              <a:t>One or more layers that process the inputs through weighted connections and activation functions. Our models use two hidden Dense layers with 64 and 32 neurons respectively. </a:t>
            </a:r>
          </a:p>
          <a:p>
            <a:r>
              <a:rPr lang="en-US" b="1" dirty="0"/>
              <a:t>Output Layer: </a:t>
            </a:r>
            <a:r>
              <a:rPr lang="en-US" dirty="0"/>
              <a:t>Produces the final prediction.</a:t>
            </a:r>
          </a:p>
          <a:p>
            <a:r>
              <a:rPr lang="en-US" dirty="0"/>
              <a:t>For regression, this is typically a single neuron with a linear activation function (or no explicit activation, as it's the default in </a:t>
            </a:r>
            <a:r>
              <a:rPr lang="en-US" dirty="0" err="1"/>
              <a:t>Keras</a:t>
            </a:r>
            <a:r>
              <a:rPr lang="en-US" dirty="0"/>
              <a:t> for a single Dense output).</a:t>
            </a:r>
          </a:p>
          <a:p>
            <a:r>
              <a:rPr lang="en-US" dirty="0"/>
              <a:t>How NNs Learn </a:t>
            </a:r>
          </a:p>
          <a:p>
            <a:r>
              <a:rPr lang="en-US" b="1" dirty="0"/>
              <a:t>Forward Propagation:</a:t>
            </a:r>
            <a:r>
              <a:rPr lang="en-US" dirty="0"/>
              <a:t> Input data passes through the network, layer by layer, generating an output prediction. </a:t>
            </a:r>
          </a:p>
          <a:p>
            <a:r>
              <a:rPr lang="en-US" b="1" dirty="0"/>
              <a:t>Loss Calculation: </a:t>
            </a:r>
            <a:r>
              <a:rPr lang="en-US" dirty="0"/>
              <a:t>The model's prediction (ŷ) is compared to the actual target value (y) using a loss function.</a:t>
            </a:r>
          </a:p>
          <a:p>
            <a:r>
              <a:rPr lang="en-US" b="1" dirty="0"/>
              <a:t>Backpropagation: </a:t>
            </a:r>
            <a:r>
              <a:rPr lang="en-US" dirty="0"/>
              <a:t>The error (loss) is propagated backward through the network to calculate the gradients of the loss with respect to each weight. </a:t>
            </a:r>
          </a:p>
          <a:p>
            <a:r>
              <a:rPr lang="en-US" dirty="0"/>
              <a:t>Weight Updates: An optimizer uses these gradients to adjust the network's weights, minimizing the loss over time.</a:t>
            </a:r>
          </a:p>
          <a:p>
            <a:r>
              <a:rPr lang="en-US" b="1" dirty="0"/>
              <a:t>Loss Function </a:t>
            </a:r>
            <a:r>
              <a:rPr lang="en-US" dirty="0"/>
              <a:t>(Mean Squared Error - MSE)   </a:t>
            </a:r>
          </a:p>
          <a:p>
            <a:r>
              <a:rPr lang="en-US" b="1" dirty="0"/>
              <a:t>Why for Regression: </a:t>
            </a:r>
            <a:r>
              <a:rPr lang="en-US" dirty="0"/>
              <a:t>MSE measures the average squared difference between the estimated values and the actual value. It penalizes larger errors more heavily, making it a standard choice for regression tasks. </a:t>
            </a:r>
            <a:r>
              <a:rPr lang="en-US" b="1" dirty="0"/>
              <a:t>Optimizer (Adam): </a:t>
            </a:r>
            <a:r>
              <a:rPr lang="en-US" dirty="0"/>
              <a:t>Adam (Adaptive Moment Estimation): A popular optimization algorithm that combines the benefits of two other extensions of stochastic gradient descent: Adaptive Gradient Algorithm (</a:t>
            </a:r>
            <a:r>
              <a:rPr lang="en-US" dirty="0" err="1"/>
              <a:t>AdaGrad</a:t>
            </a:r>
            <a:r>
              <a:rPr lang="en-US" dirty="0"/>
              <a:t>) and Root Mean Square Propagation (</a:t>
            </a:r>
            <a:r>
              <a:rPr lang="en-US" dirty="0" err="1"/>
              <a:t>RMSProp</a:t>
            </a:r>
            <a:r>
              <a:rPr lang="en-US" dirty="0"/>
              <a:t>). </a:t>
            </a:r>
          </a:p>
          <a:p>
            <a:r>
              <a:rPr lang="en-US" b="1" dirty="0"/>
              <a:t>Benefits: </a:t>
            </a:r>
            <a:r>
              <a:rPr lang="en-US" dirty="0"/>
              <a:t>Computationally efficient, requires little memory, and is well-suited for problems with large datasets and many parameters.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7834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6D7CCA5-8B69-A8FF-3647-3F8193DB2A44}"/>
              </a:ext>
            </a:extLst>
          </p:cNvPr>
          <p:cNvSpPr txBox="1"/>
          <p:nvPr/>
        </p:nvSpPr>
        <p:spPr>
          <a:xfrm>
            <a:off x="-39329" y="353961"/>
            <a:ext cx="12270658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The Role of </a:t>
            </a:r>
            <a:r>
              <a:rPr lang="it-IT" sz="2800" b="1" dirty="0" err="1"/>
              <a:t>Activation</a:t>
            </a:r>
            <a:r>
              <a:rPr lang="it-IT" sz="2800" b="1" dirty="0"/>
              <a:t> </a:t>
            </a:r>
            <a:r>
              <a:rPr lang="it-IT" sz="2800" b="1" dirty="0" err="1"/>
              <a:t>Functions</a:t>
            </a:r>
            <a:endParaRPr lang="it-IT" sz="2800" b="1" dirty="0"/>
          </a:p>
          <a:p>
            <a:r>
              <a:rPr lang="it-IT" sz="2400" b="1" dirty="0" err="1"/>
              <a:t>What</a:t>
            </a:r>
            <a:r>
              <a:rPr lang="it-IT" sz="2400" b="1" dirty="0"/>
              <a:t> are </a:t>
            </a:r>
            <a:r>
              <a:rPr lang="it-IT" sz="2400" b="1" dirty="0" err="1"/>
              <a:t>they</a:t>
            </a:r>
            <a:r>
              <a:rPr lang="it-IT" sz="2400" b="1" dirty="0"/>
              <a:t>? </a:t>
            </a:r>
            <a:r>
              <a:rPr lang="it-IT" dirty="0" err="1"/>
              <a:t>Activation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 are non-linear </a:t>
            </a:r>
            <a:r>
              <a:rPr lang="it-IT" dirty="0" err="1"/>
              <a:t>functions</a:t>
            </a:r>
            <a:r>
              <a:rPr lang="it-IT" dirty="0"/>
              <a:t> </a:t>
            </a:r>
            <a:r>
              <a:rPr lang="it-IT" dirty="0" err="1"/>
              <a:t>applied</a:t>
            </a:r>
            <a:r>
              <a:rPr lang="it-IT" dirty="0"/>
              <a:t> to the output of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neuron</a:t>
            </a:r>
            <a:r>
              <a:rPr lang="it-IT" dirty="0"/>
              <a:t> (or </a:t>
            </a:r>
            <a:r>
              <a:rPr lang="it-IT" dirty="0" err="1"/>
              <a:t>layer</a:t>
            </a:r>
            <a:r>
              <a:rPr lang="it-IT" dirty="0"/>
              <a:t>) in a </a:t>
            </a:r>
            <a:r>
              <a:rPr lang="it-IT" dirty="0" err="1"/>
              <a:t>neural</a:t>
            </a:r>
            <a:r>
              <a:rPr lang="it-IT" dirty="0"/>
              <a:t> network.</a:t>
            </a:r>
          </a:p>
          <a:p>
            <a:r>
              <a:rPr lang="it-IT" sz="2400" b="1" dirty="0"/>
              <a:t>Why are </a:t>
            </a:r>
            <a:r>
              <a:rPr lang="it-IT" sz="2400" b="1" dirty="0" err="1"/>
              <a:t>they</a:t>
            </a:r>
            <a:r>
              <a:rPr lang="it-IT" sz="2400" b="1" dirty="0"/>
              <a:t> </a:t>
            </a:r>
            <a:r>
              <a:rPr lang="it-IT" sz="2400" b="1" dirty="0" err="1"/>
              <a:t>crucial</a:t>
            </a:r>
            <a:r>
              <a:rPr lang="it-IT" sz="2400" b="1" dirty="0"/>
              <a:t>? </a:t>
            </a:r>
            <a:r>
              <a:rPr lang="it-IT" dirty="0"/>
              <a:t>Introduce Non-</a:t>
            </a:r>
            <a:r>
              <a:rPr lang="it-IT" dirty="0" err="1"/>
              <a:t>Linearity</a:t>
            </a:r>
            <a:r>
              <a:rPr lang="it-IT" dirty="0"/>
              <a:t>: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activation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, a </a:t>
            </a:r>
            <a:r>
              <a:rPr lang="it-IT" dirty="0" err="1"/>
              <a:t>neural</a:t>
            </a:r>
            <a:r>
              <a:rPr lang="it-IT" dirty="0"/>
              <a:t> network </a:t>
            </a:r>
            <a:r>
              <a:rPr lang="it-IT" dirty="0" err="1"/>
              <a:t>would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be </a:t>
            </a:r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dirty="0" err="1"/>
              <a:t>learn</a:t>
            </a:r>
            <a:r>
              <a:rPr lang="it-IT" dirty="0"/>
              <a:t> linear </a:t>
            </a:r>
            <a:r>
              <a:rPr lang="it-IT" dirty="0" err="1"/>
              <a:t>relationships</a:t>
            </a:r>
            <a:r>
              <a:rPr lang="it-IT" dirty="0"/>
              <a:t>, </a:t>
            </a:r>
            <a:r>
              <a:rPr lang="it-IT" dirty="0" err="1"/>
              <a:t>regardless</a:t>
            </a:r>
            <a:r>
              <a:rPr lang="it-IT" dirty="0"/>
              <a:t> of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layers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</a:t>
            </a:r>
            <a:r>
              <a:rPr lang="it-IT" dirty="0" err="1"/>
              <a:t>limit</a:t>
            </a:r>
            <a:r>
              <a:rPr lang="it-IT" dirty="0"/>
              <a:t>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ability</a:t>
            </a:r>
            <a:r>
              <a:rPr lang="it-IT" dirty="0"/>
              <a:t> to model </a:t>
            </a:r>
            <a:r>
              <a:rPr lang="it-IT" dirty="0" err="1"/>
              <a:t>complex</a:t>
            </a:r>
            <a:r>
              <a:rPr lang="it-IT" dirty="0"/>
              <a:t> </a:t>
            </a:r>
            <a:r>
              <a:rPr lang="it-IT" dirty="0" err="1"/>
              <a:t>real</a:t>
            </a:r>
            <a:r>
              <a:rPr lang="it-IT" dirty="0"/>
              <a:t>-world data. </a:t>
            </a:r>
            <a:r>
              <a:rPr lang="it-IT" dirty="0" err="1"/>
              <a:t>Enable</a:t>
            </a:r>
            <a:r>
              <a:rPr lang="it-IT" dirty="0"/>
              <a:t> </a:t>
            </a:r>
            <a:r>
              <a:rPr lang="it-IT" dirty="0" err="1"/>
              <a:t>Complex</a:t>
            </a:r>
            <a:r>
              <a:rPr lang="it-IT" dirty="0"/>
              <a:t> Mapping: By </a:t>
            </a:r>
            <a:r>
              <a:rPr lang="it-IT" dirty="0" err="1"/>
              <a:t>introducing</a:t>
            </a:r>
            <a:r>
              <a:rPr lang="it-IT" dirty="0"/>
              <a:t> non-</a:t>
            </a:r>
            <a:r>
              <a:rPr lang="it-IT" dirty="0" err="1"/>
              <a:t>linearities</a:t>
            </a:r>
            <a:r>
              <a:rPr lang="it-IT" dirty="0"/>
              <a:t>, </a:t>
            </a:r>
            <a:r>
              <a:rPr lang="it-IT" dirty="0" err="1"/>
              <a:t>activation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 </a:t>
            </a:r>
            <a:r>
              <a:rPr lang="it-IT" dirty="0" err="1"/>
              <a:t>allow</a:t>
            </a:r>
            <a:r>
              <a:rPr lang="it-IT" dirty="0"/>
              <a:t> </a:t>
            </a:r>
            <a:r>
              <a:rPr lang="it-IT" dirty="0" err="1"/>
              <a:t>NNs</a:t>
            </a:r>
            <a:r>
              <a:rPr lang="it-IT" dirty="0"/>
              <a:t> to </a:t>
            </a:r>
            <a:r>
              <a:rPr lang="it-IT" dirty="0" err="1"/>
              <a:t>approximate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non-linear </a:t>
            </a:r>
            <a:r>
              <a:rPr lang="it-IT" dirty="0" err="1"/>
              <a:t>function</a:t>
            </a:r>
            <a:r>
              <a:rPr lang="it-IT" dirty="0"/>
              <a:t>, making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universal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approximators.*   </a:t>
            </a:r>
            <a:r>
              <a:rPr lang="it-IT" sz="2400" b="1" dirty="0"/>
              <a:t>Output Range: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define</a:t>
            </a:r>
            <a:r>
              <a:rPr lang="it-IT" dirty="0"/>
              <a:t> the output range of a </a:t>
            </a:r>
            <a:r>
              <a:rPr lang="it-IT" dirty="0" err="1"/>
              <a:t>neuron</a:t>
            </a:r>
            <a:r>
              <a:rPr lang="it-IT" dirty="0"/>
              <a:t> (e.g., </a:t>
            </a:r>
            <a:r>
              <a:rPr lang="it-IT" dirty="0" err="1"/>
              <a:t>between</a:t>
            </a:r>
            <a:r>
              <a:rPr lang="it-IT" dirty="0"/>
              <a:t> 0 and 1 for </a:t>
            </a:r>
            <a:r>
              <a:rPr lang="it-IT" dirty="0" err="1"/>
              <a:t>Sigmoid</a:t>
            </a:r>
            <a:r>
              <a:rPr lang="it-IT" dirty="0"/>
              <a:t>, or -1 and 1 for Tanh).</a:t>
            </a:r>
          </a:p>
          <a:p>
            <a:r>
              <a:rPr lang="it-IT" dirty="0"/>
              <a:t>Focus on:</a:t>
            </a:r>
          </a:p>
          <a:p>
            <a:pPr marL="342900" indent="-342900">
              <a:buAutoNum type="arabicPeriod"/>
            </a:pPr>
            <a:r>
              <a:rPr lang="it-IT" sz="2000" b="1" dirty="0" err="1"/>
              <a:t>ReLU</a:t>
            </a:r>
            <a:r>
              <a:rPr lang="it-IT" sz="2000" b="1" dirty="0"/>
              <a:t> (</a:t>
            </a:r>
            <a:r>
              <a:rPr lang="it-IT" sz="2000" b="1" dirty="0" err="1"/>
              <a:t>Rectified</a:t>
            </a:r>
            <a:r>
              <a:rPr lang="it-IT" sz="2000" b="1" dirty="0"/>
              <a:t> Linear Unit) </a:t>
            </a:r>
            <a:r>
              <a:rPr lang="it-IT" sz="2000" b="1" dirty="0" err="1"/>
              <a:t>Function</a:t>
            </a:r>
            <a:r>
              <a:rPr lang="it-IT" sz="2000" b="1" dirty="0"/>
              <a:t>: f(x) = max(0, x)   </a:t>
            </a:r>
            <a:r>
              <a:rPr lang="it-IT" dirty="0" err="1"/>
              <a:t>Description</a:t>
            </a:r>
            <a:r>
              <a:rPr lang="it-IT" dirty="0"/>
              <a:t>: Outputs the input </a:t>
            </a:r>
            <a:r>
              <a:rPr lang="it-IT" dirty="0" err="1"/>
              <a:t>directly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it's</a:t>
            </a:r>
            <a:r>
              <a:rPr lang="it-IT" dirty="0"/>
              <a:t> positive, </a:t>
            </a:r>
            <a:r>
              <a:rPr lang="it-IT" dirty="0" err="1"/>
              <a:t>otherwise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outputs zero. </a:t>
            </a:r>
            <a:r>
              <a:rPr lang="it-IT" b="1" dirty="0" err="1"/>
              <a:t>Pros</a:t>
            </a:r>
            <a:r>
              <a:rPr lang="it-IT" b="1" dirty="0"/>
              <a:t>: </a:t>
            </a:r>
            <a:r>
              <a:rPr lang="it-IT" dirty="0" err="1"/>
              <a:t>Computationally</a:t>
            </a:r>
            <a:r>
              <a:rPr lang="it-IT" dirty="0"/>
              <a:t> </a:t>
            </a:r>
            <a:r>
              <a:rPr lang="it-IT" dirty="0" err="1"/>
              <a:t>Efficient</a:t>
            </a:r>
            <a:r>
              <a:rPr lang="it-IT" dirty="0"/>
              <a:t>: Very </a:t>
            </a:r>
            <a:r>
              <a:rPr lang="it-IT" dirty="0" err="1"/>
              <a:t>simple</a:t>
            </a:r>
            <a:r>
              <a:rPr lang="it-IT" dirty="0"/>
              <a:t> to compute, </a:t>
            </a:r>
            <a:r>
              <a:rPr lang="it-IT" dirty="0" err="1"/>
              <a:t>speeding</a:t>
            </a:r>
            <a:r>
              <a:rPr lang="it-IT" dirty="0"/>
              <a:t> up training.  </a:t>
            </a:r>
            <a:r>
              <a:rPr lang="it-IT" dirty="0" err="1"/>
              <a:t>Mitigates</a:t>
            </a:r>
            <a:r>
              <a:rPr lang="it-IT" dirty="0"/>
              <a:t> Vanishing </a:t>
            </a:r>
            <a:r>
              <a:rPr lang="it-IT" dirty="0" err="1"/>
              <a:t>Gradients</a:t>
            </a:r>
            <a:r>
              <a:rPr lang="it-IT" dirty="0"/>
              <a:t>: For positive inputs, the </a:t>
            </a: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constant</a:t>
            </a:r>
            <a:r>
              <a:rPr lang="it-IT" dirty="0"/>
              <a:t> (1), </a:t>
            </a:r>
            <a:r>
              <a:rPr lang="it-IT" dirty="0" err="1"/>
              <a:t>helping</a:t>
            </a:r>
            <a:r>
              <a:rPr lang="it-IT" dirty="0"/>
              <a:t> to </a:t>
            </a:r>
            <a:r>
              <a:rPr lang="it-IT" dirty="0" err="1"/>
              <a:t>avoid</a:t>
            </a:r>
            <a:r>
              <a:rPr lang="it-IT" dirty="0"/>
              <a:t> the </a:t>
            </a:r>
            <a:r>
              <a:rPr lang="it-IT" dirty="0" err="1"/>
              <a:t>vanishing</a:t>
            </a:r>
            <a:r>
              <a:rPr lang="it-IT" dirty="0"/>
              <a:t> </a:t>
            </a: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common in deep networks. </a:t>
            </a:r>
            <a:r>
              <a:rPr lang="it-IT" b="1" dirty="0"/>
              <a:t>Cons: </a:t>
            </a:r>
            <a:r>
              <a:rPr lang="it-IT" dirty="0" err="1"/>
              <a:t>Dying</a:t>
            </a:r>
            <a:r>
              <a:rPr lang="it-IT" dirty="0"/>
              <a:t> </a:t>
            </a:r>
            <a:r>
              <a:rPr lang="it-IT" dirty="0" err="1"/>
              <a:t>ReLU</a:t>
            </a:r>
            <a:r>
              <a:rPr lang="it-IT" dirty="0"/>
              <a:t> </a:t>
            </a:r>
            <a:r>
              <a:rPr lang="it-IT" dirty="0" err="1"/>
              <a:t>Problem:Neurons</a:t>
            </a:r>
            <a:r>
              <a:rPr lang="it-IT" dirty="0"/>
              <a:t> can </a:t>
            </a:r>
            <a:r>
              <a:rPr lang="it-IT" dirty="0" err="1"/>
              <a:t>become</a:t>
            </a:r>
            <a:r>
              <a:rPr lang="it-IT" dirty="0"/>
              <a:t> </a:t>
            </a:r>
            <a:r>
              <a:rPr lang="it-IT" dirty="0" err="1"/>
              <a:t>inactive</a:t>
            </a:r>
            <a:r>
              <a:rPr lang="it-IT" dirty="0"/>
              <a:t> (output 0) and stop learning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input </a:t>
            </a:r>
            <a:r>
              <a:rPr lang="it-IT" dirty="0" err="1"/>
              <a:t>consistently</a:t>
            </a:r>
            <a:r>
              <a:rPr lang="it-IT" dirty="0"/>
              <a:t> </a:t>
            </a:r>
            <a:r>
              <a:rPr lang="it-IT" dirty="0" err="1"/>
              <a:t>falls</a:t>
            </a:r>
            <a:r>
              <a:rPr lang="it-IT" dirty="0"/>
              <a:t> </a:t>
            </a:r>
            <a:r>
              <a:rPr lang="it-IT" dirty="0" err="1"/>
              <a:t>below</a:t>
            </a:r>
            <a:r>
              <a:rPr lang="it-IT" dirty="0"/>
              <a:t> zero.</a:t>
            </a:r>
          </a:p>
          <a:p>
            <a:pPr marL="342900" indent="-342900">
              <a:buAutoNum type="arabicPeriod"/>
            </a:pPr>
            <a:r>
              <a:rPr lang="it-IT" sz="2000" b="1" dirty="0"/>
              <a:t>Tanh (</a:t>
            </a:r>
            <a:r>
              <a:rPr lang="it-IT" sz="2000" b="1" dirty="0" err="1"/>
              <a:t>Hyperbolic</a:t>
            </a:r>
            <a:r>
              <a:rPr lang="it-IT" sz="2000" b="1" dirty="0"/>
              <a:t> </a:t>
            </a:r>
            <a:r>
              <a:rPr lang="it-IT" sz="2000" b="1" dirty="0" err="1"/>
              <a:t>Tangent</a:t>
            </a:r>
            <a:r>
              <a:rPr lang="it-IT" sz="2000" b="1" dirty="0"/>
              <a:t>) </a:t>
            </a:r>
            <a:r>
              <a:rPr lang="it-IT" sz="2000" b="1" dirty="0" err="1"/>
              <a:t>Function</a:t>
            </a:r>
            <a:r>
              <a:rPr lang="it-IT" sz="2000" b="1" dirty="0"/>
              <a:t>: f(x) = (</a:t>
            </a:r>
            <a:r>
              <a:rPr lang="it-IT" sz="2000" b="1" dirty="0" err="1"/>
              <a:t>e^x</a:t>
            </a:r>
            <a:r>
              <a:rPr lang="it-IT" sz="2000" b="1" dirty="0"/>
              <a:t> - e^(-x))/(</a:t>
            </a:r>
            <a:r>
              <a:rPr lang="it-IT" sz="2000" b="1" dirty="0" err="1"/>
              <a:t>e^x</a:t>
            </a:r>
            <a:r>
              <a:rPr lang="it-IT" sz="2000" b="1" dirty="0"/>
              <a:t> + e^(-x)) </a:t>
            </a:r>
            <a:r>
              <a:rPr lang="it-IT" dirty="0" err="1"/>
              <a:t>Description</a:t>
            </a:r>
            <a:r>
              <a:rPr lang="it-IT" dirty="0"/>
              <a:t>: Outputs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-1 and 1. </a:t>
            </a:r>
            <a:r>
              <a:rPr lang="it-IT" b="1" dirty="0" err="1"/>
              <a:t>Pros</a:t>
            </a:r>
            <a:r>
              <a:rPr lang="it-IT" b="1" dirty="0"/>
              <a:t>: </a:t>
            </a:r>
            <a:r>
              <a:rPr lang="it-IT" dirty="0"/>
              <a:t>Zero-</a:t>
            </a:r>
            <a:r>
              <a:rPr lang="it-IT" dirty="0" err="1"/>
              <a:t>Centered</a:t>
            </a:r>
            <a:r>
              <a:rPr lang="it-IT" dirty="0"/>
              <a:t> Output: </a:t>
            </a:r>
            <a:r>
              <a:rPr lang="it-IT" dirty="0" err="1"/>
              <a:t>This</a:t>
            </a:r>
            <a:r>
              <a:rPr lang="it-IT" dirty="0"/>
              <a:t> can be </a:t>
            </a:r>
            <a:r>
              <a:rPr lang="it-IT" dirty="0" err="1"/>
              <a:t>beneficial</a:t>
            </a:r>
            <a:r>
              <a:rPr lang="it-IT" dirty="0"/>
              <a:t> for </a:t>
            </a:r>
            <a:r>
              <a:rPr lang="it-IT" dirty="0" err="1"/>
              <a:t>optimization</a:t>
            </a:r>
            <a:r>
              <a:rPr lang="it-IT" dirty="0"/>
              <a:t>,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helps the </a:t>
            </a:r>
            <a:r>
              <a:rPr lang="it-IT" dirty="0" err="1"/>
              <a:t>gradients</a:t>
            </a:r>
            <a:r>
              <a:rPr lang="it-IT" dirty="0"/>
              <a:t> propagate more </a:t>
            </a:r>
            <a:r>
              <a:rPr lang="it-IT" dirty="0" err="1"/>
              <a:t>efficiently</a:t>
            </a:r>
            <a:r>
              <a:rPr lang="it-IT" dirty="0"/>
              <a:t>. </a:t>
            </a:r>
            <a:r>
              <a:rPr lang="it-IT" b="1" dirty="0"/>
              <a:t>Cons: </a:t>
            </a:r>
            <a:r>
              <a:rPr lang="it-IT" dirty="0"/>
              <a:t>Vanishing </a:t>
            </a:r>
            <a:r>
              <a:rPr lang="it-IT" dirty="0" err="1"/>
              <a:t>Gradients</a:t>
            </a:r>
            <a:r>
              <a:rPr lang="it-IT" dirty="0"/>
              <a:t>:  Like </a:t>
            </a:r>
            <a:r>
              <a:rPr lang="it-IT" dirty="0" err="1"/>
              <a:t>Sigmoid</a:t>
            </a:r>
            <a:r>
              <a:rPr lang="it-IT" dirty="0"/>
              <a:t>, Tanh can </a:t>
            </a:r>
            <a:r>
              <a:rPr lang="it-IT" dirty="0" err="1"/>
              <a:t>suffer</a:t>
            </a:r>
            <a:r>
              <a:rPr lang="it-IT" dirty="0"/>
              <a:t> from </a:t>
            </a:r>
            <a:r>
              <a:rPr lang="it-IT" dirty="0" err="1"/>
              <a:t>vanishing</a:t>
            </a:r>
            <a:r>
              <a:rPr lang="it-IT" dirty="0"/>
              <a:t> </a:t>
            </a:r>
            <a:r>
              <a:rPr lang="it-IT" dirty="0" err="1"/>
              <a:t>gradients</a:t>
            </a:r>
            <a:r>
              <a:rPr lang="it-IT" dirty="0"/>
              <a:t> for </a:t>
            </a:r>
            <a:r>
              <a:rPr lang="it-IT" dirty="0" err="1"/>
              <a:t>very</a:t>
            </a:r>
            <a:r>
              <a:rPr lang="it-IT" dirty="0"/>
              <a:t> large or </a:t>
            </a:r>
            <a:r>
              <a:rPr lang="it-IT" dirty="0" err="1"/>
              <a:t>very</a:t>
            </a:r>
            <a:r>
              <a:rPr lang="it-IT" dirty="0"/>
              <a:t> small inputs, </a:t>
            </a:r>
            <a:r>
              <a:rPr lang="it-IT" dirty="0" err="1"/>
              <a:t>where</a:t>
            </a:r>
            <a:r>
              <a:rPr lang="it-IT" dirty="0"/>
              <a:t> the </a:t>
            </a: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becomes</a:t>
            </a:r>
            <a:r>
              <a:rPr lang="it-IT" dirty="0"/>
              <a:t> close to zero, </a:t>
            </a:r>
            <a:r>
              <a:rPr lang="it-IT" dirty="0" err="1"/>
              <a:t>hindering</a:t>
            </a:r>
            <a:r>
              <a:rPr lang="it-IT" dirty="0"/>
              <a:t> learning. </a:t>
            </a:r>
            <a:r>
              <a:rPr lang="it-IT" dirty="0" err="1"/>
              <a:t>Computationally</a:t>
            </a:r>
            <a:r>
              <a:rPr lang="it-IT" dirty="0"/>
              <a:t> More </a:t>
            </a:r>
            <a:r>
              <a:rPr lang="it-IT" dirty="0" err="1"/>
              <a:t>Expensive</a:t>
            </a:r>
            <a:r>
              <a:rPr lang="it-IT" dirty="0"/>
              <a:t>: </a:t>
            </a:r>
            <a:r>
              <a:rPr lang="it-IT" dirty="0" err="1"/>
              <a:t>Slightly</a:t>
            </a:r>
            <a:r>
              <a:rPr lang="it-IT" dirty="0"/>
              <a:t> more </a:t>
            </a:r>
            <a:r>
              <a:rPr lang="it-IT" dirty="0" err="1"/>
              <a:t>complex</a:t>
            </a:r>
            <a:r>
              <a:rPr lang="it-IT" dirty="0"/>
              <a:t> to compute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ReLU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24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B209264-D611-2B30-478D-E5DA1620DBAA}"/>
              </a:ext>
            </a:extLst>
          </p:cNvPr>
          <p:cNvSpPr txBox="1"/>
          <p:nvPr/>
        </p:nvSpPr>
        <p:spPr>
          <a:xfrm>
            <a:off x="-68826" y="0"/>
            <a:ext cx="1226082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/>
              <a:t>Model </a:t>
            </a:r>
            <a:r>
              <a:rPr lang="it-IT" sz="2400" b="1" dirty="0" err="1"/>
              <a:t>Implementation</a:t>
            </a:r>
            <a:r>
              <a:rPr lang="it-IT" sz="2400" b="1" dirty="0"/>
              <a:t> &amp; </a:t>
            </a:r>
            <a:r>
              <a:rPr lang="it-IT" sz="2400" b="1" dirty="0" err="1"/>
              <a:t>Comparison</a:t>
            </a:r>
            <a:r>
              <a:rPr lang="it-IT" sz="2400" b="1" dirty="0"/>
              <a:t> Strategy</a:t>
            </a:r>
          </a:p>
          <a:p>
            <a:endParaRPr lang="it-IT" sz="2400" b="1" dirty="0"/>
          </a:p>
          <a:p>
            <a:r>
              <a:rPr lang="it-IT" sz="2000" b="1" dirty="0" err="1"/>
              <a:t>Our</a:t>
            </a:r>
            <a:r>
              <a:rPr lang="it-IT" sz="2000" b="1" dirty="0"/>
              <a:t> </a:t>
            </a:r>
            <a:r>
              <a:rPr lang="it-IT" sz="2000" b="1" dirty="0" err="1"/>
              <a:t>Neural</a:t>
            </a:r>
            <a:r>
              <a:rPr lang="it-IT" sz="2000" b="1" dirty="0"/>
              <a:t> Network Architecture</a:t>
            </a:r>
          </a:p>
          <a:p>
            <a:endParaRPr lang="it-IT" dirty="0"/>
          </a:p>
          <a:p>
            <a:r>
              <a:rPr lang="it-IT" b="1" dirty="0"/>
              <a:t>Input Layer: </a:t>
            </a:r>
            <a:r>
              <a:rPr lang="it-IT" dirty="0"/>
              <a:t>Matches the </a:t>
            </a:r>
            <a:r>
              <a:rPr lang="it-IT" dirty="0" err="1"/>
              <a:t>number</a:t>
            </a:r>
            <a:r>
              <a:rPr lang="it-IT" dirty="0"/>
              <a:t> of features in </a:t>
            </a:r>
            <a:r>
              <a:rPr lang="it-IT" dirty="0" err="1"/>
              <a:t>our</a:t>
            </a:r>
            <a:r>
              <a:rPr lang="it-IT" dirty="0"/>
              <a:t> dataset (9 features).</a:t>
            </a:r>
          </a:p>
          <a:p>
            <a:endParaRPr lang="it-IT" dirty="0"/>
          </a:p>
          <a:p>
            <a:r>
              <a:rPr lang="it-IT" b="1" dirty="0"/>
              <a:t>Hidden Layer 1: </a:t>
            </a:r>
            <a:r>
              <a:rPr lang="it-IT" dirty="0"/>
              <a:t>Dense(64, </a:t>
            </a:r>
            <a:r>
              <a:rPr lang="it-IT" dirty="0" err="1"/>
              <a:t>activation</a:t>
            </a:r>
            <a:r>
              <a:rPr lang="it-IT" dirty="0"/>
              <a:t>=‘[ACTIVATION_FUNCTION]’)Hidden Layer 2: Dense(32, </a:t>
            </a:r>
            <a:r>
              <a:rPr lang="it-IT" dirty="0" err="1"/>
              <a:t>activation</a:t>
            </a:r>
            <a:r>
              <a:rPr lang="it-IT" dirty="0"/>
              <a:t>='[ACTIVATION_FUNCTION]’)</a:t>
            </a:r>
          </a:p>
          <a:p>
            <a:endParaRPr lang="it-IT" dirty="0"/>
          </a:p>
          <a:p>
            <a:r>
              <a:rPr lang="it-IT" b="1" dirty="0"/>
              <a:t>Output Layer: Dense(1) </a:t>
            </a:r>
            <a:r>
              <a:rPr lang="it-IT" dirty="0"/>
              <a:t>(Single </a:t>
            </a:r>
            <a:r>
              <a:rPr lang="it-IT" dirty="0" err="1"/>
              <a:t>neuron</a:t>
            </a:r>
            <a:r>
              <a:rPr lang="it-IT" dirty="0"/>
              <a:t> for </a:t>
            </a:r>
            <a:r>
              <a:rPr lang="it-IT" dirty="0" err="1"/>
              <a:t>regression</a:t>
            </a:r>
            <a:r>
              <a:rPr lang="it-IT" dirty="0"/>
              <a:t>, linear </a:t>
            </a:r>
            <a:r>
              <a:rPr lang="it-IT" dirty="0" err="1"/>
              <a:t>activation</a:t>
            </a:r>
            <a:r>
              <a:rPr lang="it-IT" dirty="0"/>
              <a:t> by default). All models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compiled</a:t>
            </a:r>
            <a:r>
              <a:rPr lang="it-IT" dirty="0"/>
              <a:t> with the Adam </a:t>
            </a:r>
            <a:r>
              <a:rPr lang="it-IT" dirty="0" err="1"/>
              <a:t>optimizer</a:t>
            </a:r>
            <a:r>
              <a:rPr lang="it-IT" dirty="0"/>
              <a:t> and Mean </a:t>
            </a:r>
            <a:r>
              <a:rPr lang="it-IT" dirty="0" err="1"/>
              <a:t>Squared</a:t>
            </a:r>
            <a:r>
              <a:rPr lang="it-IT" dirty="0"/>
              <a:t> Error (MSE) </a:t>
            </a:r>
            <a:r>
              <a:rPr lang="it-IT" dirty="0" err="1"/>
              <a:t>loss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, and </a:t>
            </a:r>
            <a:r>
              <a:rPr lang="it-IT" dirty="0" err="1"/>
              <a:t>trained</a:t>
            </a:r>
            <a:r>
              <a:rPr lang="it-IT" dirty="0"/>
              <a:t> for 100 </a:t>
            </a:r>
            <a:r>
              <a:rPr lang="it-IT" dirty="0" err="1"/>
              <a:t>epochs</a:t>
            </a:r>
            <a:r>
              <a:rPr lang="it-IT" dirty="0"/>
              <a:t> with a batch size of 32.</a:t>
            </a:r>
          </a:p>
          <a:p>
            <a:endParaRPr lang="it-IT" dirty="0"/>
          </a:p>
          <a:p>
            <a:r>
              <a:rPr lang="it-IT" sz="2000" b="1" dirty="0"/>
              <a:t>Model 1: </a:t>
            </a:r>
            <a:r>
              <a:rPr lang="it-IT" sz="2000" b="1" dirty="0" err="1"/>
              <a:t>ReLU</a:t>
            </a:r>
            <a:r>
              <a:rPr lang="it-IT" sz="2000" b="1" dirty="0"/>
              <a:t> </a:t>
            </a:r>
            <a:r>
              <a:rPr lang="it-IT" sz="2000" b="1" dirty="0" err="1"/>
              <a:t>Activation</a:t>
            </a:r>
            <a:r>
              <a:rPr lang="it-IT" sz="2000" b="1" dirty="0"/>
              <a:t> NN   </a:t>
            </a:r>
          </a:p>
          <a:p>
            <a:r>
              <a:rPr lang="it-IT" dirty="0"/>
              <a:t>Architecture: Dense(64, </a:t>
            </a:r>
            <a:r>
              <a:rPr lang="it-IT" dirty="0" err="1"/>
              <a:t>activation</a:t>
            </a:r>
            <a:r>
              <a:rPr lang="it-IT" dirty="0"/>
              <a:t>='</a:t>
            </a:r>
            <a:r>
              <a:rPr lang="it-IT" dirty="0" err="1"/>
              <a:t>relu</a:t>
            </a:r>
            <a:r>
              <a:rPr lang="it-IT" dirty="0"/>
              <a:t>')` -&gt; Dense(32, </a:t>
            </a:r>
            <a:r>
              <a:rPr lang="it-IT" dirty="0" err="1"/>
              <a:t>activation</a:t>
            </a:r>
            <a:r>
              <a:rPr lang="it-IT" dirty="0"/>
              <a:t>='</a:t>
            </a:r>
            <a:r>
              <a:rPr lang="it-IT" dirty="0" err="1"/>
              <a:t>relu</a:t>
            </a:r>
            <a:r>
              <a:rPr lang="it-IT" dirty="0"/>
              <a:t>') -&gt; Dense(1, Linear)  </a:t>
            </a:r>
            <a:r>
              <a:rPr lang="it-IT" dirty="0" err="1"/>
              <a:t>This</a:t>
            </a:r>
            <a:r>
              <a:rPr lang="it-IT" dirty="0"/>
              <a:t> model </a:t>
            </a:r>
            <a:r>
              <a:rPr lang="it-IT" dirty="0" err="1"/>
              <a:t>utilizes</a:t>
            </a:r>
            <a:r>
              <a:rPr lang="it-IT" dirty="0"/>
              <a:t> the </a:t>
            </a:r>
            <a:r>
              <a:rPr lang="it-IT" dirty="0" err="1"/>
              <a:t>Rectified</a:t>
            </a:r>
            <a:r>
              <a:rPr lang="it-IT" dirty="0"/>
              <a:t> Linear Unit </a:t>
            </a:r>
            <a:r>
              <a:rPr lang="it-IT" dirty="0" err="1"/>
              <a:t>activation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in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hidden</a:t>
            </a:r>
            <a:r>
              <a:rPr lang="it-IT" dirty="0"/>
              <a:t> </a:t>
            </a:r>
            <a:r>
              <a:rPr lang="it-IT" dirty="0" err="1"/>
              <a:t>layers</a:t>
            </a:r>
            <a:r>
              <a:rPr lang="it-IT" dirty="0"/>
              <a:t>.</a:t>
            </a:r>
          </a:p>
          <a:p>
            <a:r>
              <a:rPr lang="it-IT" sz="2000" b="1" dirty="0"/>
              <a:t>Model 2: Tanh </a:t>
            </a:r>
            <a:r>
              <a:rPr lang="it-IT" sz="2000" b="1" dirty="0" err="1"/>
              <a:t>Activation</a:t>
            </a:r>
            <a:r>
              <a:rPr lang="it-IT" sz="2000" b="1" dirty="0"/>
              <a:t> NN</a:t>
            </a:r>
          </a:p>
          <a:p>
            <a:r>
              <a:rPr lang="it-IT" dirty="0"/>
              <a:t>Architecture: Dense(64, </a:t>
            </a:r>
            <a:r>
              <a:rPr lang="it-IT" dirty="0" err="1"/>
              <a:t>activation</a:t>
            </a:r>
            <a:r>
              <a:rPr lang="it-IT" dirty="0"/>
              <a:t>='</a:t>
            </a:r>
            <a:r>
              <a:rPr lang="it-IT" dirty="0" err="1"/>
              <a:t>tanh</a:t>
            </a:r>
            <a:r>
              <a:rPr lang="it-IT" dirty="0"/>
              <a:t>') -&gt; Dense(32, </a:t>
            </a:r>
            <a:r>
              <a:rPr lang="it-IT" dirty="0" err="1"/>
              <a:t>activation</a:t>
            </a:r>
            <a:r>
              <a:rPr lang="it-IT" dirty="0"/>
              <a:t>='</a:t>
            </a:r>
            <a:r>
              <a:rPr lang="it-IT" dirty="0" err="1"/>
              <a:t>tanh</a:t>
            </a:r>
            <a:r>
              <a:rPr lang="it-IT" dirty="0"/>
              <a:t>') -&gt; Dense(1, Linear)   </a:t>
            </a:r>
            <a:r>
              <a:rPr lang="it-IT" dirty="0" err="1"/>
              <a:t>This</a:t>
            </a:r>
            <a:r>
              <a:rPr lang="it-IT" dirty="0"/>
              <a:t> model </a:t>
            </a:r>
            <a:r>
              <a:rPr lang="it-IT" dirty="0" err="1"/>
              <a:t>replaces</a:t>
            </a:r>
            <a:r>
              <a:rPr lang="it-IT" dirty="0"/>
              <a:t> </a:t>
            </a:r>
            <a:r>
              <a:rPr lang="it-IT" dirty="0" err="1"/>
              <a:t>ReLU</a:t>
            </a:r>
            <a:r>
              <a:rPr lang="it-IT" dirty="0"/>
              <a:t> with the </a:t>
            </a:r>
            <a:r>
              <a:rPr lang="it-IT" dirty="0" err="1"/>
              <a:t>Hyperbolic</a:t>
            </a:r>
            <a:r>
              <a:rPr lang="it-IT" dirty="0"/>
              <a:t> </a:t>
            </a:r>
            <a:r>
              <a:rPr lang="it-IT" dirty="0" err="1"/>
              <a:t>Tangent</a:t>
            </a:r>
            <a:r>
              <a:rPr lang="it-IT" dirty="0"/>
              <a:t> </a:t>
            </a:r>
            <a:r>
              <a:rPr lang="it-IT" dirty="0" err="1"/>
              <a:t>activation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in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hidden</a:t>
            </a:r>
            <a:r>
              <a:rPr lang="it-IT" dirty="0"/>
              <a:t> </a:t>
            </a:r>
            <a:r>
              <a:rPr lang="it-IT" dirty="0" err="1"/>
              <a:t>layers</a:t>
            </a:r>
            <a:r>
              <a:rPr lang="it-IT" dirty="0"/>
              <a:t>. </a:t>
            </a:r>
          </a:p>
          <a:p>
            <a:r>
              <a:rPr lang="it-IT" dirty="0" err="1"/>
              <a:t>Comparison</a:t>
            </a:r>
            <a:r>
              <a:rPr lang="it-IT" dirty="0"/>
              <a:t> Strategy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kept</a:t>
            </a:r>
            <a:r>
              <a:rPr lang="it-IT" dirty="0"/>
              <a:t> the network </a:t>
            </a:r>
            <a:r>
              <a:rPr lang="it-IT" dirty="0" err="1"/>
              <a:t>architecture</a:t>
            </a:r>
            <a:r>
              <a:rPr lang="it-IT" dirty="0"/>
              <a:t> (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layers</a:t>
            </a:r>
            <a:r>
              <a:rPr lang="it-IT" dirty="0"/>
              <a:t>, </a:t>
            </a:r>
            <a:r>
              <a:rPr lang="it-IT" dirty="0" err="1"/>
              <a:t>neurons</a:t>
            </a:r>
            <a:r>
              <a:rPr lang="it-IT" dirty="0"/>
              <a:t> per </a:t>
            </a:r>
            <a:r>
              <a:rPr lang="it-IT" dirty="0" err="1"/>
              <a:t>layer</a:t>
            </a:r>
            <a:r>
              <a:rPr lang="it-IT" dirty="0"/>
              <a:t>) and training </a:t>
            </a:r>
            <a:r>
              <a:rPr lang="it-IT" dirty="0" err="1"/>
              <a:t>parameters</a:t>
            </a:r>
            <a:r>
              <a:rPr lang="it-IT" dirty="0"/>
              <a:t> (</a:t>
            </a:r>
            <a:r>
              <a:rPr lang="it-IT" dirty="0" err="1"/>
              <a:t>epochs</a:t>
            </a:r>
            <a:r>
              <a:rPr lang="it-IT" dirty="0"/>
              <a:t>, batch size, </a:t>
            </a:r>
            <a:r>
              <a:rPr lang="it-IT" dirty="0" err="1"/>
              <a:t>optimizer</a:t>
            </a:r>
            <a:r>
              <a:rPr lang="it-IT" dirty="0"/>
              <a:t>, </a:t>
            </a:r>
            <a:r>
              <a:rPr lang="it-IT" dirty="0" err="1"/>
              <a:t>loss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) </a:t>
            </a:r>
            <a:r>
              <a:rPr lang="it-IT" dirty="0" err="1"/>
              <a:t>identical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models.  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allows</a:t>
            </a:r>
            <a:r>
              <a:rPr lang="it-IT" dirty="0"/>
              <a:t> for a </a:t>
            </a:r>
            <a:r>
              <a:rPr lang="it-IT" dirty="0" err="1"/>
              <a:t>direct</a:t>
            </a:r>
            <a:r>
              <a:rPr lang="it-IT" dirty="0"/>
              <a:t> </a:t>
            </a:r>
            <a:r>
              <a:rPr lang="it-IT" dirty="0" err="1"/>
              <a:t>comparison</a:t>
            </a:r>
            <a:r>
              <a:rPr lang="it-IT" dirty="0"/>
              <a:t> of </a:t>
            </a:r>
            <a:r>
              <a:rPr lang="it-IT" dirty="0" err="1"/>
              <a:t>how</a:t>
            </a:r>
            <a:r>
              <a:rPr lang="it-IT" dirty="0"/>
              <a:t> the </a:t>
            </a:r>
            <a:r>
              <a:rPr lang="it-IT" dirty="0" err="1"/>
              <a:t>choice</a:t>
            </a:r>
            <a:r>
              <a:rPr lang="it-IT" dirty="0"/>
              <a:t> of </a:t>
            </a:r>
            <a:r>
              <a:rPr lang="it-IT" dirty="0" err="1"/>
              <a:t>activation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alone impacts the </a:t>
            </a:r>
            <a:r>
              <a:rPr lang="it-IT" dirty="0" err="1"/>
              <a:t>model's</a:t>
            </a:r>
            <a:r>
              <a:rPr lang="it-IT" dirty="0"/>
              <a:t> performance on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regression</a:t>
            </a:r>
            <a:r>
              <a:rPr lang="it-IT" dirty="0"/>
              <a:t> task.</a:t>
            </a:r>
          </a:p>
        </p:txBody>
      </p:sp>
    </p:spTree>
    <p:extLst>
      <p:ext uri="{BB962C8B-B14F-4D97-AF65-F5344CB8AC3E}">
        <p14:creationId xmlns:p14="http://schemas.microsoft.com/office/powerpoint/2010/main" val="712614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A7EDFC-17DA-B2F2-046E-9F18BBBBAB91}"/>
              </a:ext>
            </a:extLst>
          </p:cNvPr>
          <p:cNvSpPr txBox="1"/>
          <p:nvPr/>
        </p:nvSpPr>
        <p:spPr>
          <a:xfrm>
            <a:off x="0" y="0"/>
            <a:ext cx="12192000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/>
              <a:t>Performance Evaluation</a:t>
            </a:r>
          </a:p>
          <a:p>
            <a:r>
              <a:rPr lang="it-IT" sz="2000" b="1" dirty="0"/>
              <a:t>Key Evaluation </a:t>
            </a:r>
            <a:r>
              <a:rPr lang="it-IT" sz="2000" b="1" dirty="0" err="1"/>
              <a:t>Metrics</a:t>
            </a:r>
            <a:endParaRPr lang="it-IT" sz="2000" b="1" dirty="0"/>
          </a:p>
          <a:p>
            <a:r>
              <a:rPr lang="it-IT" b="1" dirty="0"/>
              <a:t>MSE (Mean </a:t>
            </a:r>
            <a:r>
              <a:rPr lang="it-IT" b="1" dirty="0" err="1"/>
              <a:t>Squared</a:t>
            </a:r>
            <a:r>
              <a:rPr lang="it-IT" b="1" dirty="0"/>
              <a:t> Error): </a:t>
            </a:r>
            <a:r>
              <a:rPr lang="it-IT" dirty="0" err="1"/>
              <a:t>Average</a:t>
            </a:r>
            <a:r>
              <a:rPr lang="it-IT" dirty="0"/>
              <a:t> of the </a:t>
            </a:r>
            <a:r>
              <a:rPr lang="it-IT" dirty="0" err="1"/>
              <a:t>squared</a:t>
            </a:r>
            <a:r>
              <a:rPr lang="it-IT" dirty="0"/>
              <a:t> </a:t>
            </a:r>
            <a:r>
              <a:rPr lang="it-IT" dirty="0" err="1"/>
              <a:t>differences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predictions</a:t>
            </a:r>
            <a:r>
              <a:rPr lang="it-IT" dirty="0"/>
              <a:t> and </a:t>
            </a:r>
            <a:r>
              <a:rPr lang="it-IT" dirty="0" err="1"/>
              <a:t>actual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.  </a:t>
            </a:r>
            <a:r>
              <a:rPr lang="it-IT" b="1" dirty="0"/>
              <a:t>RMSE (Root Mean </a:t>
            </a:r>
            <a:r>
              <a:rPr lang="it-IT" b="1" dirty="0" err="1"/>
              <a:t>Squared</a:t>
            </a:r>
            <a:r>
              <a:rPr lang="it-IT" b="1" dirty="0"/>
              <a:t> Error): </a:t>
            </a:r>
            <a:r>
              <a:rPr lang="it-IT" dirty="0"/>
              <a:t>Square root of MSE, </a:t>
            </a:r>
            <a:r>
              <a:rPr lang="it-IT" dirty="0" err="1"/>
              <a:t>providing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units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target </a:t>
            </a:r>
            <a:r>
              <a:rPr lang="it-IT" dirty="0" err="1"/>
              <a:t>variable</a:t>
            </a:r>
            <a:r>
              <a:rPr lang="it-IT" dirty="0"/>
              <a:t>.</a:t>
            </a:r>
          </a:p>
          <a:p>
            <a:r>
              <a:rPr lang="it-IT" b="1" dirty="0"/>
              <a:t>MAE (Mean Absolute Error): </a:t>
            </a:r>
            <a:r>
              <a:rPr lang="it-IT" dirty="0" err="1"/>
              <a:t>Average</a:t>
            </a:r>
            <a:r>
              <a:rPr lang="it-IT" dirty="0"/>
              <a:t> of the </a:t>
            </a:r>
            <a:r>
              <a:rPr lang="it-IT" dirty="0" err="1"/>
              <a:t>absolute</a:t>
            </a:r>
            <a:r>
              <a:rPr lang="it-IT" dirty="0"/>
              <a:t> </a:t>
            </a:r>
            <a:r>
              <a:rPr lang="it-IT" dirty="0" err="1"/>
              <a:t>differences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predictions</a:t>
            </a:r>
            <a:r>
              <a:rPr lang="it-IT" dirty="0"/>
              <a:t> and </a:t>
            </a:r>
            <a:r>
              <a:rPr lang="it-IT" dirty="0" err="1"/>
              <a:t>actual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.   </a:t>
            </a:r>
            <a:r>
              <a:rPr lang="it-IT" b="1" dirty="0"/>
              <a:t>R2 Score (</a:t>
            </a:r>
            <a:r>
              <a:rPr lang="it-IT" b="1" dirty="0" err="1"/>
              <a:t>Coefficient</a:t>
            </a:r>
            <a:r>
              <a:rPr lang="it-IT" b="1" dirty="0"/>
              <a:t> of </a:t>
            </a:r>
            <a:r>
              <a:rPr lang="it-IT" b="1" dirty="0" err="1"/>
              <a:t>Determination</a:t>
            </a:r>
            <a:r>
              <a:rPr lang="it-IT" b="1" dirty="0"/>
              <a:t>): </a:t>
            </a:r>
            <a:r>
              <a:rPr lang="it-IT" dirty="0" err="1"/>
              <a:t>Represents</a:t>
            </a:r>
            <a:r>
              <a:rPr lang="it-IT" dirty="0"/>
              <a:t> the </a:t>
            </a:r>
            <a:r>
              <a:rPr lang="it-IT" dirty="0" err="1"/>
              <a:t>proportion</a:t>
            </a:r>
            <a:r>
              <a:rPr lang="it-IT" dirty="0"/>
              <a:t> of </a:t>
            </a:r>
            <a:r>
              <a:rPr lang="it-IT" dirty="0" err="1"/>
              <a:t>variance</a:t>
            </a:r>
            <a:r>
              <a:rPr lang="it-IT" dirty="0"/>
              <a:t> in the </a:t>
            </a:r>
            <a:r>
              <a:rPr lang="it-IT" dirty="0" err="1"/>
              <a:t>dependent</a:t>
            </a:r>
            <a:r>
              <a:rPr lang="it-IT" dirty="0"/>
              <a:t> </a:t>
            </a:r>
            <a:r>
              <a:rPr lang="it-IT" dirty="0" err="1"/>
              <a:t>variable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can be </a:t>
            </a:r>
            <a:r>
              <a:rPr lang="it-IT" dirty="0" err="1"/>
              <a:t>predicted</a:t>
            </a:r>
            <a:r>
              <a:rPr lang="it-IT" dirty="0"/>
              <a:t> from the </a:t>
            </a:r>
            <a:r>
              <a:rPr lang="it-IT" dirty="0" err="1"/>
              <a:t>independent</a:t>
            </a:r>
            <a:r>
              <a:rPr lang="it-IT" dirty="0"/>
              <a:t> </a:t>
            </a:r>
            <a:r>
              <a:rPr lang="it-IT" dirty="0" err="1"/>
              <a:t>variables</a:t>
            </a:r>
            <a:r>
              <a:rPr lang="it-IT" dirty="0"/>
              <a:t> (</a:t>
            </a:r>
            <a:r>
              <a:rPr lang="it-IT" dirty="0" err="1"/>
              <a:t>closer</a:t>
            </a:r>
            <a:r>
              <a:rPr lang="it-IT" dirty="0"/>
              <a:t> to 1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).</a:t>
            </a:r>
          </a:p>
          <a:p>
            <a:endParaRPr lang="it-IT" dirty="0"/>
          </a:p>
          <a:p>
            <a:r>
              <a:rPr lang="it-IT" sz="2000" b="1" dirty="0" err="1"/>
              <a:t>Comparison</a:t>
            </a:r>
            <a:r>
              <a:rPr lang="it-IT" sz="2000" b="1" dirty="0"/>
              <a:t> of Model Performance:</a:t>
            </a:r>
          </a:p>
          <a:p>
            <a:r>
              <a:rPr lang="it-IT" dirty="0"/>
              <a:t>| </a:t>
            </a:r>
            <a:r>
              <a:rPr lang="it-IT" dirty="0" err="1"/>
              <a:t>Metric</a:t>
            </a:r>
            <a:r>
              <a:rPr lang="it-IT" dirty="0"/>
              <a:t>     | </a:t>
            </a:r>
            <a:r>
              <a:rPr lang="it-IT" dirty="0" err="1"/>
              <a:t>ReLU</a:t>
            </a:r>
            <a:r>
              <a:rPr lang="it-IT" dirty="0"/>
              <a:t> Model | Tanh Model |</a:t>
            </a:r>
          </a:p>
          <a:p>
            <a:r>
              <a:rPr lang="it-IT" dirty="0"/>
              <a:t>| MSE         | 0.000028 | 0.000033 |</a:t>
            </a:r>
          </a:p>
          <a:p>
            <a:r>
              <a:rPr lang="it-IT" dirty="0"/>
              <a:t>| RMSE       | 0.005334 | 0.005765 |</a:t>
            </a:r>
          </a:p>
          <a:p>
            <a:r>
              <a:rPr lang="it-IT" dirty="0"/>
              <a:t>| MAE        | 0.002269 | 0.003884 |</a:t>
            </a:r>
          </a:p>
          <a:p>
            <a:r>
              <a:rPr lang="it-IT" dirty="0"/>
              <a:t>| R2 Score | 0.999978 | 0.999975 |</a:t>
            </a:r>
          </a:p>
          <a:p>
            <a:endParaRPr lang="it-IT" dirty="0"/>
          </a:p>
          <a:p>
            <a:r>
              <a:rPr lang="it-IT" b="1" dirty="0" err="1"/>
              <a:t>Prediction</a:t>
            </a:r>
            <a:r>
              <a:rPr lang="it-IT" b="1" dirty="0"/>
              <a:t> Plot (for </a:t>
            </a:r>
            <a:r>
              <a:rPr lang="it-IT" b="1" dirty="0" err="1"/>
              <a:t>ReLU</a:t>
            </a:r>
            <a:r>
              <a:rPr lang="it-IT" b="1" dirty="0"/>
              <a:t> Model):  The plot shows a strong linear </a:t>
            </a:r>
            <a:r>
              <a:rPr lang="it-IT" b="1" dirty="0" err="1"/>
              <a:t>relationship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the </a:t>
            </a:r>
            <a:r>
              <a:rPr lang="it-IT" b="1" dirty="0" err="1"/>
              <a:t>actual</a:t>
            </a:r>
            <a:r>
              <a:rPr lang="it-IT" b="1" dirty="0"/>
              <a:t> and </a:t>
            </a:r>
            <a:r>
              <a:rPr lang="it-IT" b="1" dirty="0" err="1"/>
              <a:t>predicted</a:t>
            </a:r>
            <a:r>
              <a:rPr lang="it-IT" b="1" dirty="0"/>
              <a:t> </a:t>
            </a:r>
            <a:r>
              <a:rPr lang="it-IT" b="1" dirty="0" err="1"/>
              <a:t>median</a:t>
            </a:r>
            <a:r>
              <a:rPr lang="it-IT" b="1" dirty="0"/>
              <a:t> house </a:t>
            </a:r>
            <a:r>
              <a:rPr lang="it-IT" b="1" dirty="0" err="1"/>
              <a:t>values</a:t>
            </a:r>
            <a:r>
              <a:rPr lang="it-IT" b="1" dirty="0"/>
              <a:t>, with points </a:t>
            </a:r>
            <a:r>
              <a:rPr lang="it-IT" b="1" dirty="0" err="1"/>
              <a:t>closely</a:t>
            </a:r>
            <a:r>
              <a:rPr lang="it-IT" b="1" dirty="0"/>
              <a:t> clustering </a:t>
            </a:r>
            <a:r>
              <a:rPr lang="it-IT" b="1" dirty="0" err="1"/>
              <a:t>around</a:t>
            </a:r>
            <a:r>
              <a:rPr lang="it-IT" b="1" dirty="0"/>
              <a:t> the </a:t>
            </a:r>
            <a:r>
              <a:rPr lang="it-IT" b="1" dirty="0" err="1"/>
              <a:t>ideal</a:t>
            </a:r>
            <a:r>
              <a:rPr lang="it-IT" b="1" dirty="0"/>
              <a:t> y=x line (red </a:t>
            </a:r>
            <a:r>
              <a:rPr lang="it-IT" b="1" dirty="0" err="1"/>
              <a:t>dashed</a:t>
            </a:r>
            <a:r>
              <a:rPr lang="it-IT" b="1" dirty="0"/>
              <a:t> line).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visually</a:t>
            </a:r>
            <a:r>
              <a:rPr lang="it-IT" dirty="0"/>
              <a:t> </a:t>
            </a:r>
            <a:r>
              <a:rPr lang="it-IT" dirty="0" err="1"/>
              <a:t>confirms</a:t>
            </a:r>
            <a:r>
              <a:rPr lang="it-IT" dirty="0"/>
              <a:t> the high </a:t>
            </a:r>
            <a:r>
              <a:rPr lang="it-IT" dirty="0" err="1"/>
              <a:t>accuracy</a:t>
            </a:r>
            <a:r>
              <a:rPr lang="it-IT" dirty="0"/>
              <a:t> of the </a:t>
            </a:r>
            <a:r>
              <a:rPr lang="it-IT" dirty="0" err="1"/>
              <a:t>ReLU</a:t>
            </a:r>
            <a:r>
              <a:rPr lang="it-IT" dirty="0"/>
              <a:t> </a:t>
            </a:r>
            <a:r>
              <a:rPr lang="it-IT" dirty="0" err="1"/>
              <a:t>model's</a:t>
            </a:r>
            <a:r>
              <a:rPr lang="it-IT" dirty="0"/>
              <a:t> </a:t>
            </a:r>
            <a:r>
              <a:rPr lang="it-IT" dirty="0" err="1"/>
              <a:t>predictions</a:t>
            </a:r>
            <a:r>
              <a:rPr lang="it-IT" dirty="0"/>
              <a:t>. Key Finding: the </a:t>
            </a:r>
            <a:r>
              <a:rPr lang="it-IT" dirty="0" err="1"/>
              <a:t>ReLU</a:t>
            </a:r>
            <a:r>
              <a:rPr lang="it-IT" dirty="0"/>
              <a:t> model </a:t>
            </a:r>
            <a:r>
              <a:rPr lang="it-IT" dirty="0" err="1"/>
              <a:t>performed</a:t>
            </a:r>
            <a:r>
              <a:rPr lang="it-IT" dirty="0"/>
              <a:t> </a:t>
            </a:r>
            <a:r>
              <a:rPr lang="it-IT" dirty="0" err="1"/>
              <a:t>marginally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evaluation</a:t>
            </a:r>
            <a:r>
              <a:rPr lang="it-IT" dirty="0"/>
              <a:t> </a:t>
            </a:r>
            <a:r>
              <a:rPr lang="it-IT" dirty="0" err="1"/>
              <a:t>metrics</a:t>
            </a:r>
            <a:r>
              <a:rPr lang="it-IT" dirty="0"/>
              <a:t>.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achieved</a:t>
            </a:r>
            <a:r>
              <a:rPr lang="it-IT" dirty="0"/>
              <a:t> a </a:t>
            </a:r>
            <a:r>
              <a:rPr lang="it-IT" dirty="0" err="1"/>
              <a:t>lower</a:t>
            </a:r>
            <a:r>
              <a:rPr lang="it-IT" dirty="0"/>
              <a:t> MSE (0.000028 vs 0.000033), </a:t>
            </a:r>
            <a:r>
              <a:rPr lang="it-IT" dirty="0" err="1"/>
              <a:t>lower</a:t>
            </a:r>
            <a:r>
              <a:rPr lang="it-IT" dirty="0"/>
              <a:t> RMSE (0.0053 vs 0.0058), and </a:t>
            </a:r>
            <a:r>
              <a:rPr lang="it-IT" dirty="0" err="1"/>
              <a:t>lower</a:t>
            </a:r>
            <a:r>
              <a:rPr lang="it-IT" dirty="0"/>
              <a:t> MAE (0.0023 vs 0.0039) </a:t>
            </a:r>
            <a:r>
              <a:rPr lang="it-IT" dirty="0" err="1"/>
              <a:t>compared</a:t>
            </a:r>
            <a:r>
              <a:rPr lang="it-IT" dirty="0"/>
              <a:t> to the Tanh model.   Both models </a:t>
            </a:r>
            <a:r>
              <a:rPr lang="it-IT" dirty="0" err="1"/>
              <a:t>demonstrated</a:t>
            </a:r>
            <a:r>
              <a:rPr lang="it-IT" dirty="0"/>
              <a:t> </a:t>
            </a:r>
            <a:r>
              <a:rPr lang="it-IT" dirty="0" err="1"/>
              <a:t>exceptionally</a:t>
            </a:r>
            <a:r>
              <a:rPr lang="it-IT" dirty="0"/>
              <a:t> high R2 scores (</a:t>
            </a:r>
            <a:r>
              <a:rPr lang="it-IT" dirty="0" err="1"/>
              <a:t>very</a:t>
            </a:r>
            <a:r>
              <a:rPr lang="it-IT" dirty="0"/>
              <a:t> close to 1.0), </a:t>
            </a:r>
            <a:r>
              <a:rPr lang="it-IT" dirty="0" err="1"/>
              <a:t>indicating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explain</a:t>
            </a:r>
            <a:r>
              <a:rPr lang="it-IT" dirty="0"/>
              <a:t> </a:t>
            </a:r>
            <a:r>
              <a:rPr lang="it-IT" dirty="0" err="1"/>
              <a:t>almost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variance</a:t>
            </a:r>
            <a:r>
              <a:rPr lang="it-IT" dirty="0"/>
              <a:t> in the target </a:t>
            </a:r>
            <a:r>
              <a:rPr lang="it-IT" dirty="0" err="1"/>
              <a:t>variable</a:t>
            </a:r>
            <a:r>
              <a:rPr lang="it-IT" dirty="0"/>
              <a:t>. The California Housing dataset </a:t>
            </a:r>
            <a:r>
              <a:rPr lang="it-IT" dirty="0" err="1"/>
              <a:t>appears</a:t>
            </a:r>
            <a:r>
              <a:rPr lang="it-IT" dirty="0"/>
              <a:t> to be </a:t>
            </a:r>
            <a:r>
              <a:rPr lang="it-IT" dirty="0" err="1"/>
              <a:t>relatively</a:t>
            </a:r>
            <a:r>
              <a:rPr lang="it-IT" dirty="0"/>
              <a:t> 'easy' for </a:t>
            </a:r>
            <a:r>
              <a:rPr lang="it-IT" dirty="0" err="1"/>
              <a:t>these</a:t>
            </a:r>
            <a:r>
              <a:rPr lang="it-IT" dirty="0"/>
              <a:t> NN </a:t>
            </a:r>
            <a:r>
              <a:rPr lang="it-IT" dirty="0" err="1"/>
              <a:t>architectures</a:t>
            </a:r>
            <a:r>
              <a:rPr lang="it-IT" dirty="0"/>
              <a:t> to </a:t>
            </a:r>
            <a:r>
              <a:rPr lang="it-IT" dirty="0" err="1"/>
              <a:t>learn</a:t>
            </a:r>
            <a:r>
              <a:rPr lang="it-IT" dirty="0"/>
              <a:t> </a:t>
            </a:r>
            <a:r>
              <a:rPr lang="it-IT" dirty="0" err="1"/>
              <a:t>well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0331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098DCD96-827C-8AD5-22D5-5C5CDC1FDA69}"/>
              </a:ext>
            </a:extLst>
          </p:cNvPr>
          <p:cNvSpPr txBox="1"/>
          <p:nvPr/>
        </p:nvSpPr>
        <p:spPr>
          <a:xfrm>
            <a:off x="0" y="-88491"/>
            <a:ext cx="12192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 err="1"/>
              <a:t>Discussion</a:t>
            </a:r>
            <a:r>
              <a:rPr lang="it-IT" sz="2400" b="1" dirty="0"/>
              <a:t> &amp; </a:t>
            </a:r>
            <a:r>
              <a:rPr lang="it-IT" sz="2400" b="1" dirty="0" err="1"/>
              <a:t>Interpretation</a:t>
            </a:r>
            <a:endParaRPr lang="it-IT" sz="2400" b="1" dirty="0"/>
          </a:p>
          <a:p>
            <a:r>
              <a:rPr lang="it-IT" b="1" dirty="0"/>
              <a:t>Why </a:t>
            </a:r>
            <a:r>
              <a:rPr lang="it-IT" b="1" dirty="0" err="1"/>
              <a:t>did</a:t>
            </a:r>
            <a:r>
              <a:rPr lang="it-IT" b="1" dirty="0"/>
              <a:t> </a:t>
            </a:r>
            <a:r>
              <a:rPr lang="it-IT" b="1" dirty="0" err="1"/>
              <a:t>ReLU</a:t>
            </a:r>
            <a:r>
              <a:rPr lang="it-IT" b="1" dirty="0"/>
              <a:t> </a:t>
            </a:r>
            <a:r>
              <a:rPr lang="it-IT" b="1" dirty="0" err="1"/>
              <a:t>perform</a:t>
            </a:r>
            <a:r>
              <a:rPr lang="it-IT" b="1" dirty="0"/>
              <a:t> </a:t>
            </a:r>
            <a:r>
              <a:rPr lang="it-IT" b="1" dirty="0" err="1"/>
              <a:t>marginally</a:t>
            </a:r>
            <a:r>
              <a:rPr lang="it-IT" b="1" dirty="0"/>
              <a:t> </a:t>
            </a:r>
            <a:r>
              <a:rPr lang="it-IT" b="1" dirty="0" err="1"/>
              <a:t>better</a:t>
            </a:r>
            <a:r>
              <a:rPr lang="it-IT" b="1" dirty="0"/>
              <a:t>? Non-</a:t>
            </a:r>
            <a:r>
              <a:rPr lang="it-IT" b="1" dirty="0" err="1"/>
              <a:t>saturation</a:t>
            </a:r>
            <a:r>
              <a:rPr lang="it-IT" b="1" dirty="0"/>
              <a:t>: </a:t>
            </a:r>
            <a:r>
              <a:rPr lang="it-IT" dirty="0"/>
              <a:t>For positive inputs, </a:t>
            </a:r>
            <a:r>
              <a:rPr lang="it-IT" dirty="0" err="1"/>
              <a:t>ReLU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a </a:t>
            </a:r>
            <a:r>
              <a:rPr lang="it-IT" dirty="0" err="1"/>
              <a:t>constant</a:t>
            </a:r>
            <a:r>
              <a:rPr lang="it-IT" dirty="0"/>
              <a:t> </a:t>
            </a:r>
            <a:r>
              <a:rPr lang="it-IT" dirty="0" err="1"/>
              <a:t>gradient</a:t>
            </a:r>
            <a:r>
              <a:rPr lang="it-IT" dirty="0"/>
              <a:t> (1), </a:t>
            </a:r>
            <a:r>
              <a:rPr lang="it-IT" dirty="0" err="1"/>
              <a:t>preventing</a:t>
            </a:r>
            <a:r>
              <a:rPr lang="it-IT" dirty="0"/>
              <a:t> the </a:t>
            </a:r>
            <a:r>
              <a:rPr lang="it-IT" dirty="0" err="1"/>
              <a:t>vanishing</a:t>
            </a:r>
            <a:r>
              <a:rPr lang="it-IT" dirty="0"/>
              <a:t> </a:t>
            </a:r>
            <a:r>
              <a:rPr lang="it-IT" dirty="0" err="1"/>
              <a:t>gradient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Tanh can </a:t>
            </a:r>
            <a:r>
              <a:rPr lang="it-IT" dirty="0" err="1"/>
              <a:t>experience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inputs are </a:t>
            </a:r>
            <a:r>
              <a:rPr lang="it-IT" dirty="0" err="1"/>
              <a:t>very</a:t>
            </a:r>
            <a:r>
              <a:rPr lang="it-IT" dirty="0"/>
              <a:t> large or </a:t>
            </a:r>
            <a:r>
              <a:rPr lang="it-IT" dirty="0" err="1"/>
              <a:t>very</a:t>
            </a:r>
            <a:r>
              <a:rPr lang="it-IT" dirty="0"/>
              <a:t> small (</a:t>
            </a:r>
            <a:r>
              <a:rPr lang="it-IT" dirty="0" err="1"/>
              <a:t>where</a:t>
            </a:r>
            <a:r>
              <a:rPr lang="it-IT" dirty="0"/>
              <a:t> </a:t>
            </a:r>
            <a:r>
              <a:rPr lang="it-IT" dirty="0" err="1"/>
              <a:t>gradients</a:t>
            </a:r>
            <a:r>
              <a:rPr lang="it-IT" dirty="0"/>
              <a:t> </a:t>
            </a:r>
            <a:r>
              <a:rPr lang="it-IT" dirty="0" err="1"/>
              <a:t>approach</a:t>
            </a:r>
            <a:r>
              <a:rPr lang="it-IT" dirty="0"/>
              <a:t> zero). </a:t>
            </a:r>
            <a:r>
              <a:rPr lang="it-IT" b="1" dirty="0" err="1"/>
              <a:t>Computational</a:t>
            </a:r>
            <a:r>
              <a:rPr lang="it-IT" b="1" dirty="0"/>
              <a:t> </a:t>
            </a:r>
            <a:r>
              <a:rPr lang="it-IT" b="1" dirty="0" err="1"/>
              <a:t>Efficiency</a:t>
            </a:r>
            <a:r>
              <a:rPr lang="it-IT" b="1" dirty="0"/>
              <a:t>: </a:t>
            </a:r>
            <a:r>
              <a:rPr lang="it-IT" dirty="0" err="1"/>
              <a:t>ReLU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simpler</a:t>
            </a:r>
            <a:r>
              <a:rPr lang="it-IT" dirty="0"/>
              <a:t> to compute (a max </a:t>
            </a:r>
            <a:r>
              <a:rPr lang="it-IT" dirty="0" err="1"/>
              <a:t>operation</a:t>
            </a:r>
            <a:r>
              <a:rPr lang="it-IT" dirty="0"/>
              <a:t>), </a:t>
            </a:r>
            <a:r>
              <a:rPr lang="it-IT" dirty="0" err="1"/>
              <a:t>which</a:t>
            </a:r>
            <a:r>
              <a:rPr lang="it-IT" dirty="0"/>
              <a:t> can </a:t>
            </a:r>
            <a:r>
              <a:rPr lang="it-IT" dirty="0" err="1"/>
              <a:t>contribute</a:t>
            </a:r>
            <a:r>
              <a:rPr lang="it-IT" dirty="0"/>
              <a:t> to </a:t>
            </a:r>
            <a:r>
              <a:rPr lang="it-IT" dirty="0" err="1"/>
              <a:t>faster</a:t>
            </a:r>
            <a:r>
              <a:rPr lang="it-IT" dirty="0"/>
              <a:t> training and </a:t>
            </a:r>
            <a:r>
              <a:rPr lang="it-IT" dirty="0" err="1"/>
              <a:t>slightly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performance in some </a:t>
            </a:r>
            <a:r>
              <a:rPr lang="it-IT" dirty="0" err="1"/>
              <a:t>cases</a:t>
            </a:r>
            <a:r>
              <a:rPr lang="it-IT" dirty="0"/>
              <a:t>. In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specific</a:t>
            </a:r>
            <a:r>
              <a:rPr lang="it-IT" dirty="0"/>
              <a:t> case: While the </a:t>
            </a:r>
            <a:r>
              <a:rPr lang="it-IT" dirty="0" err="1"/>
              <a:t>difference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subtle</a:t>
            </a:r>
            <a:r>
              <a:rPr lang="it-IT" dirty="0"/>
              <a:t> due to the high overall performance of </a:t>
            </a:r>
            <a:r>
              <a:rPr lang="it-IT" dirty="0" err="1"/>
              <a:t>both</a:t>
            </a:r>
            <a:r>
              <a:rPr lang="it-IT" dirty="0"/>
              <a:t> models, </a:t>
            </a:r>
            <a:r>
              <a:rPr lang="it-IT" dirty="0" err="1"/>
              <a:t>ReLU's</a:t>
            </a:r>
            <a:r>
              <a:rPr lang="it-IT" dirty="0"/>
              <a:t> </a:t>
            </a:r>
            <a:r>
              <a:rPr lang="it-IT" dirty="0" err="1"/>
              <a:t>advantages</a:t>
            </a:r>
            <a:r>
              <a:rPr lang="it-IT" dirty="0"/>
              <a:t> in non-</a:t>
            </a:r>
            <a:r>
              <a:rPr lang="it-IT" dirty="0" err="1"/>
              <a:t>saturation</a:t>
            </a:r>
            <a:r>
              <a:rPr lang="it-IT" dirty="0"/>
              <a:t> </a:t>
            </a:r>
            <a:r>
              <a:rPr lang="it-IT" dirty="0" err="1"/>
              <a:t>likely</a:t>
            </a:r>
            <a:r>
              <a:rPr lang="it-IT" dirty="0"/>
              <a:t> </a:t>
            </a:r>
            <a:r>
              <a:rPr lang="it-IT" dirty="0" err="1"/>
              <a:t>gave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a </a:t>
            </a:r>
            <a:r>
              <a:rPr lang="it-IT" dirty="0" err="1"/>
              <a:t>slight</a:t>
            </a:r>
            <a:r>
              <a:rPr lang="it-IT" dirty="0"/>
              <a:t> </a:t>
            </a:r>
            <a:r>
              <a:rPr lang="it-IT" dirty="0" err="1"/>
              <a:t>edge</a:t>
            </a:r>
            <a:r>
              <a:rPr lang="it-IT" dirty="0"/>
              <a:t> in </a:t>
            </a:r>
            <a:r>
              <a:rPr lang="it-IT" dirty="0" err="1"/>
              <a:t>convergence</a:t>
            </a:r>
            <a:r>
              <a:rPr lang="it-IT" dirty="0"/>
              <a:t> or </a:t>
            </a:r>
            <a:r>
              <a:rPr lang="it-IT" dirty="0" err="1"/>
              <a:t>finding</a:t>
            </a:r>
            <a:r>
              <a:rPr lang="it-IT" dirty="0"/>
              <a:t> a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local</a:t>
            </a:r>
            <a:r>
              <a:rPr lang="it-IT" dirty="0"/>
              <a:t> minimum.</a:t>
            </a:r>
          </a:p>
          <a:p>
            <a:endParaRPr lang="it-IT" dirty="0"/>
          </a:p>
          <a:p>
            <a:r>
              <a:rPr lang="it-IT" b="1" dirty="0"/>
              <a:t>Analysis of Loss </a:t>
            </a:r>
            <a:r>
              <a:rPr lang="it-IT" b="1" dirty="0" err="1"/>
              <a:t>Curves</a:t>
            </a:r>
            <a:r>
              <a:rPr lang="it-IT" b="1" dirty="0"/>
              <a:t> (Training vs. </a:t>
            </a:r>
            <a:r>
              <a:rPr lang="it-IT" b="1" dirty="0" err="1"/>
              <a:t>Validation</a:t>
            </a:r>
            <a:r>
              <a:rPr lang="it-IT" b="1" dirty="0"/>
              <a:t> Loss</a:t>
            </a:r>
            <a:r>
              <a:rPr lang="it-IT" dirty="0"/>
              <a:t>)(</a:t>
            </a:r>
            <a:r>
              <a:rPr lang="it-IT" dirty="0" err="1"/>
              <a:t>Refer</a:t>
            </a:r>
            <a:r>
              <a:rPr lang="it-IT" dirty="0"/>
              <a:t> to '</a:t>
            </a:r>
            <a:r>
              <a:rPr lang="it-IT" dirty="0" err="1"/>
              <a:t>ReLU</a:t>
            </a:r>
            <a:r>
              <a:rPr lang="it-IT" dirty="0"/>
              <a:t> Model Loss History' and 'Tanh Model Loss History' plots from notebook) </a:t>
            </a:r>
            <a:r>
              <a:rPr lang="it-IT" b="1" dirty="0" err="1"/>
              <a:t>Convergence</a:t>
            </a:r>
            <a:r>
              <a:rPr lang="it-IT" b="1" dirty="0"/>
              <a:t>: </a:t>
            </a:r>
            <a:r>
              <a:rPr lang="it-IT" dirty="0"/>
              <a:t>Both models </a:t>
            </a:r>
            <a:r>
              <a:rPr lang="it-IT" dirty="0" err="1"/>
              <a:t>showed</a:t>
            </a:r>
            <a:r>
              <a:rPr lang="it-IT" dirty="0"/>
              <a:t> </a:t>
            </a:r>
            <a:r>
              <a:rPr lang="it-IT" dirty="0" err="1"/>
              <a:t>rapid</a:t>
            </a:r>
            <a:r>
              <a:rPr lang="it-IT" dirty="0"/>
              <a:t> and </a:t>
            </a:r>
            <a:r>
              <a:rPr lang="it-IT" dirty="0" err="1"/>
              <a:t>stable</a:t>
            </a:r>
            <a:r>
              <a:rPr lang="it-IT" dirty="0"/>
              <a:t> </a:t>
            </a:r>
            <a:r>
              <a:rPr lang="it-IT" dirty="0" err="1"/>
              <a:t>convergence</a:t>
            </a:r>
            <a:r>
              <a:rPr lang="it-IT" dirty="0"/>
              <a:t>, with </a:t>
            </a:r>
            <a:r>
              <a:rPr lang="it-IT" dirty="0" err="1"/>
              <a:t>both</a:t>
            </a:r>
            <a:r>
              <a:rPr lang="it-IT" dirty="0"/>
              <a:t> training and </a:t>
            </a:r>
            <a:r>
              <a:rPr lang="it-IT" dirty="0" err="1"/>
              <a:t>validation</a:t>
            </a:r>
            <a:r>
              <a:rPr lang="it-IT" dirty="0"/>
              <a:t> </a:t>
            </a:r>
            <a:r>
              <a:rPr lang="it-IT" dirty="0" err="1"/>
              <a:t>losses</a:t>
            </a:r>
            <a:r>
              <a:rPr lang="it-IT" dirty="0"/>
              <a:t> </a:t>
            </a:r>
            <a:r>
              <a:rPr lang="it-IT" dirty="0" err="1"/>
              <a:t>decreasing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in the </a:t>
            </a:r>
            <a:r>
              <a:rPr lang="it-IT" dirty="0" err="1"/>
              <a:t>early</a:t>
            </a:r>
            <a:r>
              <a:rPr lang="it-IT" dirty="0"/>
              <a:t> </a:t>
            </a:r>
            <a:r>
              <a:rPr lang="it-IT" dirty="0" err="1"/>
              <a:t>epochs</a:t>
            </a:r>
            <a:r>
              <a:rPr lang="it-IT" dirty="0"/>
              <a:t> and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flattening</a:t>
            </a:r>
            <a:r>
              <a:rPr lang="it-IT" dirty="0"/>
              <a:t> out. No </a:t>
            </a:r>
            <a:r>
              <a:rPr lang="it-IT" b="1" dirty="0" err="1"/>
              <a:t>Overfitting</a:t>
            </a:r>
            <a:r>
              <a:rPr lang="it-IT" b="1" dirty="0"/>
              <a:t>: </a:t>
            </a:r>
            <a:r>
              <a:rPr lang="it-IT" dirty="0"/>
              <a:t>The training </a:t>
            </a:r>
            <a:r>
              <a:rPr lang="it-IT" dirty="0" err="1"/>
              <a:t>loss</a:t>
            </a:r>
            <a:r>
              <a:rPr lang="it-IT" dirty="0"/>
              <a:t> and </a:t>
            </a:r>
            <a:r>
              <a:rPr lang="it-IT" dirty="0" err="1"/>
              <a:t>validation</a:t>
            </a:r>
            <a:r>
              <a:rPr lang="it-IT" dirty="0"/>
              <a:t> </a:t>
            </a:r>
            <a:r>
              <a:rPr lang="it-IT" dirty="0" err="1"/>
              <a:t>loss</a:t>
            </a:r>
            <a:r>
              <a:rPr lang="it-IT" dirty="0"/>
              <a:t> </a:t>
            </a:r>
            <a:r>
              <a:rPr lang="it-IT" dirty="0" err="1"/>
              <a:t>curves</a:t>
            </a:r>
            <a:r>
              <a:rPr lang="it-IT" dirty="0"/>
              <a:t> </a:t>
            </a:r>
            <a:r>
              <a:rPr lang="it-IT" dirty="0" err="1"/>
              <a:t>tracked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closely</a:t>
            </a:r>
            <a:r>
              <a:rPr lang="it-IT" dirty="0"/>
              <a:t> for </a:t>
            </a:r>
            <a:r>
              <a:rPr lang="it-IT" dirty="0" err="1"/>
              <a:t>both</a:t>
            </a:r>
            <a:r>
              <a:rPr lang="it-IT" dirty="0"/>
              <a:t> models.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indicates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models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generalizing</a:t>
            </a:r>
            <a:r>
              <a:rPr lang="it-IT" dirty="0"/>
              <a:t> </a:t>
            </a:r>
            <a:r>
              <a:rPr lang="it-IT" dirty="0" err="1"/>
              <a:t>well</a:t>
            </a:r>
            <a:r>
              <a:rPr lang="it-IT" dirty="0"/>
              <a:t> to </a:t>
            </a:r>
            <a:r>
              <a:rPr lang="it-IT" dirty="0" err="1"/>
              <a:t>unseen</a:t>
            </a:r>
            <a:r>
              <a:rPr lang="it-IT" dirty="0"/>
              <a:t> data and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minimal to no </a:t>
            </a:r>
            <a:r>
              <a:rPr lang="it-IT" dirty="0" err="1"/>
              <a:t>overfitting</a:t>
            </a:r>
            <a:r>
              <a:rPr lang="it-IT" dirty="0"/>
              <a:t> </a:t>
            </a:r>
            <a:r>
              <a:rPr lang="it-IT" dirty="0" err="1"/>
              <a:t>observed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the 100 </a:t>
            </a:r>
            <a:r>
              <a:rPr lang="it-IT" dirty="0" err="1"/>
              <a:t>epochs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 err="1"/>
              <a:t>Limitations</a:t>
            </a:r>
            <a:r>
              <a:rPr lang="it-IT" b="1" dirty="0"/>
              <a:t> of Current Models </a:t>
            </a:r>
            <a:r>
              <a:rPr lang="it-IT" b="1" dirty="0" err="1"/>
              <a:t>Simplicity</a:t>
            </a:r>
            <a:r>
              <a:rPr lang="it-IT" b="1" dirty="0"/>
              <a:t>: </a:t>
            </a:r>
            <a:r>
              <a:rPr lang="it-IT" dirty="0"/>
              <a:t>The </a:t>
            </a:r>
            <a:r>
              <a:rPr lang="it-IT" dirty="0" err="1"/>
              <a:t>current</a:t>
            </a:r>
            <a:r>
              <a:rPr lang="it-IT" dirty="0"/>
              <a:t> NN </a:t>
            </a:r>
            <a:r>
              <a:rPr lang="it-IT" dirty="0" err="1"/>
              <a:t>architectures</a:t>
            </a:r>
            <a:r>
              <a:rPr lang="it-IT" dirty="0"/>
              <a:t> are </a:t>
            </a:r>
            <a:r>
              <a:rPr lang="it-IT" dirty="0" err="1"/>
              <a:t>relatively</a:t>
            </a:r>
            <a:r>
              <a:rPr lang="it-IT" dirty="0"/>
              <a:t> </a:t>
            </a:r>
            <a:r>
              <a:rPr lang="it-IT" dirty="0" err="1"/>
              <a:t>simple</a:t>
            </a:r>
            <a:r>
              <a:rPr lang="it-IT" dirty="0"/>
              <a:t> (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hidden</a:t>
            </a:r>
            <a:r>
              <a:rPr lang="it-IT" dirty="0"/>
              <a:t> </a:t>
            </a:r>
            <a:r>
              <a:rPr lang="it-IT" dirty="0" err="1"/>
              <a:t>layers</a:t>
            </a:r>
            <a:r>
              <a:rPr lang="it-IT" dirty="0"/>
              <a:t>). </a:t>
            </a:r>
            <a:r>
              <a:rPr lang="it-IT" b="1" dirty="0" err="1"/>
              <a:t>Hyperparameter</a:t>
            </a:r>
            <a:r>
              <a:rPr lang="it-IT" b="1" dirty="0"/>
              <a:t> Tuning: 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default or common </a:t>
            </a:r>
            <a:r>
              <a:rPr lang="it-IT" dirty="0" err="1"/>
              <a:t>hyperparameters</a:t>
            </a:r>
            <a:r>
              <a:rPr lang="it-IT" dirty="0"/>
              <a:t>; </a:t>
            </a:r>
            <a:r>
              <a:rPr lang="it-IT" dirty="0" err="1"/>
              <a:t>further</a:t>
            </a:r>
            <a:r>
              <a:rPr lang="it-IT" dirty="0"/>
              <a:t> tuning (e.g., learning rate,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neurons</a:t>
            </a:r>
            <a:r>
              <a:rPr lang="it-IT" dirty="0"/>
              <a:t>, </a:t>
            </a:r>
            <a:r>
              <a:rPr lang="it-IT" dirty="0" err="1"/>
              <a:t>epochs</a:t>
            </a:r>
            <a:r>
              <a:rPr lang="it-IT" dirty="0"/>
              <a:t>) </a:t>
            </a:r>
            <a:r>
              <a:rPr lang="it-IT" dirty="0" err="1"/>
              <a:t>could</a:t>
            </a:r>
            <a:r>
              <a:rPr lang="it-IT" dirty="0"/>
              <a:t> </a:t>
            </a:r>
            <a:r>
              <a:rPr lang="it-IT" dirty="0" err="1"/>
              <a:t>potentially</a:t>
            </a:r>
            <a:r>
              <a:rPr lang="it-IT" dirty="0"/>
              <a:t> yield minor </a:t>
            </a:r>
            <a:r>
              <a:rPr lang="it-IT" dirty="0" err="1"/>
              <a:t>improvements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/>
              <a:t>Real-world </a:t>
            </a:r>
            <a:r>
              <a:rPr lang="it-IT" b="1" dirty="0" err="1"/>
              <a:t>Implications</a:t>
            </a:r>
            <a:r>
              <a:rPr lang="it-IT" b="1" dirty="0"/>
              <a:t>  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types</a:t>
            </a:r>
            <a:r>
              <a:rPr lang="it-IT" dirty="0"/>
              <a:t> of </a:t>
            </a:r>
            <a:r>
              <a:rPr lang="it-IT" dirty="0" err="1"/>
              <a:t>regression</a:t>
            </a:r>
            <a:r>
              <a:rPr lang="it-IT" dirty="0"/>
              <a:t> models can be </a:t>
            </a:r>
            <a:r>
              <a:rPr lang="it-IT" dirty="0" err="1"/>
              <a:t>highly</a:t>
            </a:r>
            <a:r>
              <a:rPr lang="it-IT" dirty="0"/>
              <a:t> </a:t>
            </a:r>
            <a:r>
              <a:rPr lang="it-IT" dirty="0" err="1"/>
              <a:t>valuable</a:t>
            </a:r>
            <a:r>
              <a:rPr lang="it-IT" dirty="0"/>
              <a:t> for: </a:t>
            </a:r>
            <a:r>
              <a:rPr lang="it-IT" b="1" dirty="0"/>
              <a:t>Urban Planning: </a:t>
            </a:r>
            <a:r>
              <a:rPr lang="it-IT" dirty="0" err="1"/>
              <a:t>Understanding</a:t>
            </a:r>
            <a:r>
              <a:rPr lang="it-IT" dirty="0"/>
              <a:t> </a:t>
            </a:r>
            <a:r>
              <a:rPr lang="it-IT" dirty="0" err="1"/>
              <a:t>factors</a:t>
            </a:r>
            <a:r>
              <a:rPr lang="it-IT" dirty="0"/>
              <a:t> </a:t>
            </a:r>
            <a:r>
              <a:rPr lang="it-IT" dirty="0" err="1"/>
              <a:t>influencing</a:t>
            </a:r>
            <a:r>
              <a:rPr lang="it-IT" dirty="0"/>
              <a:t> </a:t>
            </a:r>
            <a:r>
              <a:rPr lang="it-IT" dirty="0" err="1"/>
              <a:t>property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for </a:t>
            </a:r>
            <a:r>
              <a:rPr lang="it-IT" dirty="0" err="1"/>
              <a:t>infrastructure</a:t>
            </a:r>
            <a:r>
              <a:rPr lang="it-IT" dirty="0"/>
              <a:t> </a:t>
            </a:r>
            <a:r>
              <a:rPr lang="it-IT" dirty="0" err="1"/>
              <a:t>development</a:t>
            </a:r>
            <a:r>
              <a:rPr lang="it-IT" dirty="0"/>
              <a:t>.  </a:t>
            </a:r>
            <a:r>
              <a:rPr lang="it-IT" b="1" dirty="0"/>
              <a:t>Real Estate Investment: </a:t>
            </a:r>
            <a:r>
              <a:rPr lang="it-IT" dirty="0" err="1"/>
              <a:t>Predicting</a:t>
            </a:r>
            <a:r>
              <a:rPr lang="it-IT" dirty="0"/>
              <a:t> future </a:t>
            </a:r>
            <a:r>
              <a:rPr lang="it-IT" dirty="0" err="1"/>
              <a:t>property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and </a:t>
            </a:r>
            <a:r>
              <a:rPr lang="it-IT" dirty="0" err="1"/>
              <a:t>identifying</a:t>
            </a:r>
            <a:r>
              <a:rPr lang="it-IT" dirty="0"/>
              <a:t> investment </a:t>
            </a:r>
            <a:r>
              <a:rPr lang="it-IT" dirty="0" err="1"/>
              <a:t>opportunities</a:t>
            </a:r>
            <a:r>
              <a:rPr lang="it-IT" dirty="0"/>
              <a:t>. </a:t>
            </a:r>
            <a:r>
              <a:rPr lang="it-IT" b="1" dirty="0"/>
              <a:t>Tax </a:t>
            </a:r>
            <a:r>
              <a:rPr lang="it-IT" b="1" dirty="0" err="1"/>
              <a:t>Assessment</a:t>
            </a:r>
            <a:r>
              <a:rPr lang="it-IT" b="1" dirty="0"/>
              <a:t>: </a:t>
            </a:r>
            <a:r>
              <a:rPr lang="it-IT" dirty="0"/>
              <a:t>Fairly </a:t>
            </a:r>
            <a:r>
              <a:rPr lang="it-IT" dirty="0" err="1"/>
              <a:t>assessing</a:t>
            </a:r>
            <a:r>
              <a:rPr lang="it-IT" dirty="0"/>
              <a:t> </a:t>
            </a:r>
            <a:r>
              <a:rPr lang="it-IT" dirty="0" err="1"/>
              <a:t>property</a:t>
            </a:r>
            <a:r>
              <a:rPr lang="it-IT" dirty="0"/>
              <a:t> taxes.</a:t>
            </a:r>
          </a:p>
        </p:txBody>
      </p:sp>
    </p:spTree>
    <p:extLst>
      <p:ext uri="{BB962C8B-B14F-4D97-AF65-F5344CB8AC3E}">
        <p14:creationId xmlns:p14="http://schemas.microsoft.com/office/powerpoint/2010/main" val="188769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33ED76A0-1B04-79E5-F7FA-5210FD6FE7A8}"/>
              </a:ext>
            </a:extLst>
          </p:cNvPr>
          <p:cNvSpPr txBox="1"/>
          <p:nvPr/>
        </p:nvSpPr>
        <p:spPr>
          <a:xfrm>
            <a:off x="0" y="0"/>
            <a:ext cx="12192000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 err="1"/>
              <a:t>Conclusion</a:t>
            </a:r>
            <a:r>
              <a:rPr lang="it-IT" sz="3200" b="1" dirty="0"/>
              <a:t> &amp; Future Work </a:t>
            </a:r>
          </a:p>
          <a:p>
            <a:endParaRPr lang="it-IT" dirty="0"/>
          </a:p>
          <a:p>
            <a:r>
              <a:rPr lang="it-IT" sz="2400" b="1" dirty="0" err="1"/>
              <a:t>Summary</a:t>
            </a:r>
            <a:endParaRPr lang="it-IT" sz="2400" b="1" dirty="0"/>
          </a:p>
          <a:p>
            <a:r>
              <a:rPr lang="it-IT" dirty="0" err="1"/>
              <a:t>Neural</a:t>
            </a:r>
            <a:r>
              <a:rPr lang="it-IT" dirty="0"/>
              <a:t> Networks are </a:t>
            </a:r>
            <a:r>
              <a:rPr lang="it-IT" dirty="0" err="1"/>
              <a:t>highly</a:t>
            </a:r>
            <a:r>
              <a:rPr lang="it-IT" dirty="0"/>
              <a:t> </a:t>
            </a:r>
            <a:r>
              <a:rPr lang="it-IT" dirty="0" err="1"/>
              <a:t>effective</a:t>
            </a:r>
            <a:r>
              <a:rPr lang="it-IT" dirty="0"/>
              <a:t> tools for </a:t>
            </a:r>
            <a:r>
              <a:rPr lang="it-IT" dirty="0" err="1"/>
              <a:t>regression</a:t>
            </a:r>
            <a:r>
              <a:rPr lang="it-IT" dirty="0"/>
              <a:t> tasks, </a:t>
            </a:r>
            <a:r>
              <a:rPr lang="it-IT" dirty="0" err="1"/>
              <a:t>capable</a:t>
            </a:r>
            <a:r>
              <a:rPr lang="it-IT" dirty="0"/>
              <a:t> of learning </a:t>
            </a:r>
            <a:r>
              <a:rPr lang="it-IT" dirty="0" err="1"/>
              <a:t>complex</a:t>
            </a:r>
            <a:r>
              <a:rPr lang="it-IT" dirty="0"/>
              <a:t> patterns in data like the California Housing Prices dataset. The </a:t>
            </a:r>
            <a:r>
              <a:rPr lang="it-IT" dirty="0" err="1"/>
              <a:t>choice</a:t>
            </a:r>
            <a:r>
              <a:rPr lang="it-IT" dirty="0"/>
              <a:t> of </a:t>
            </a:r>
            <a:r>
              <a:rPr lang="it-IT" dirty="0" err="1"/>
              <a:t>activation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impacts model performance, with the </a:t>
            </a:r>
            <a:r>
              <a:rPr lang="it-IT" b="1" dirty="0" err="1"/>
              <a:t>ReLU</a:t>
            </a:r>
            <a:r>
              <a:rPr lang="it-IT" b="1" dirty="0"/>
              <a:t> </a:t>
            </a:r>
            <a:r>
              <a:rPr lang="it-IT" b="1" dirty="0" err="1"/>
              <a:t>function</a:t>
            </a:r>
            <a:r>
              <a:rPr lang="it-IT" b="1" dirty="0"/>
              <a:t> </a:t>
            </a:r>
            <a:r>
              <a:rPr lang="it-IT" dirty="0" err="1"/>
              <a:t>leading</a:t>
            </a:r>
            <a:r>
              <a:rPr lang="it-IT" dirty="0"/>
              <a:t> to </a:t>
            </a:r>
            <a:r>
              <a:rPr lang="it-IT" dirty="0" err="1"/>
              <a:t>marginally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Tanh in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experiment</a:t>
            </a:r>
            <a:r>
              <a:rPr lang="it-IT" dirty="0"/>
              <a:t>, </a:t>
            </a:r>
            <a:r>
              <a:rPr lang="it-IT" dirty="0" err="1"/>
              <a:t>primarily</a:t>
            </a:r>
            <a:r>
              <a:rPr lang="it-IT" dirty="0"/>
              <a:t> due to </a:t>
            </a:r>
            <a:r>
              <a:rPr lang="it-IT" dirty="0" err="1"/>
              <a:t>its</a:t>
            </a:r>
            <a:r>
              <a:rPr lang="it-IT" dirty="0"/>
              <a:t> non-</a:t>
            </a:r>
            <a:r>
              <a:rPr lang="it-IT" dirty="0" err="1"/>
              <a:t>saturating</a:t>
            </a:r>
            <a:r>
              <a:rPr lang="it-IT" dirty="0"/>
              <a:t> nature and </a:t>
            </a:r>
            <a:r>
              <a:rPr lang="it-IT" dirty="0" err="1"/>
              <a:t>computational</a:t>
            </a:r>
            <a:r>
              <a:rPr lang="it-IT" dirty="0"/>
              <a:t> </a:t>
            </a:r>
            <a:r>
              <a:rPr lang="it-IT" dirty="0" err="1"/>
              <a:t>efficiency</a:t>
            </a:r>
            <a:r>
              <a:rPr lang="it-IT" dirty="0"/>
              <a:t>.   </a:t>
            </a:r>
            <a:r>
              <a:rPr lang="it-IT" b="1" dirty="0"/>
              <a:t>Both </a:t>
            </a:r>
            <a:r>
              <a:rPr lang="it-IT" b="1" dirty="0" err="1"/>
              <a:t>ReLU</a:t>
            </a:r>
            <a:r>
              <a:rPr lang="it-IT" b="1" dirty="0"/>
              <a:t> and Tanh models </a:t>
            </a:r>
            <a:r>
              <a:rPr lang="it-IT" b="1" dirty="0" err="1"/>
              <a:t>achieved</a:t>
            </a:r>
            <a:r>
              <a:rPr lang="it-IT" b="1" dirty="0"/>
              <a:t> </a:t>
            </a:r>
            <a:r>
              <a:rPr lang="it-IT" b="1" dirty="0" err="1"/>
              <a:t>excellent</a:t>
            </a:r>
            <a:r>
              <a:rPr lang="it-IT" b="1" dirty="0"/>
              <a:t> </a:t>
            </a:r>
            <a:r>
              <a:rPr lang="it-IT" b="1" dirty="0" err="1"/>
              <a:t>predictive</a:t>
            </a:r>
            <a:r>
              <a:rPr lang="it-IT" b="1" dirty="0"/>
              <a:t> </a:t>
            </a:r>
            <a:r>
              <a:rPr lang="it-IT" b="1" dirty="0" err="1"/>
              <a:t>accuracy</a:t>
            </a:r>
            <a:r>
              <a:rPr lang="it-IT" b="1" dirty="0"/>
              <a:t> (R2 scores </a:t>
            </a:r>
            <a:r>
              <a:rPr lang="it-IT" b="1" dirty="0" err="1"/>
              <a:t>near</a:t>
            </a:r>
            <a:r>
              <a:rPr lang="it-IT" b="1" dirty="0"/>
              <a:t> 1.0) on </a:t>
            </a:r>
            <a:r>
              <a:rPr lang="it-IT" b="1" dirty="0" err="1"/>
              <a:t>this</a:t>
            </a:r>
            <a:r>
              <a:rPr lang="it-IT" b="1" dirty="0"/>
              <a:t> dataset, with clear </a:t>
            </a:r>
            <a:r>
              <a:rPr lang="it-IT" b="1" dirty="0" err="1"/>
              <a:t>convergence</a:t>
            </a:r>
            <a:r>
              <a:rPr lang="it-IT" b="1" dirty="0"/>
              <a:t> and no </a:t>
            </a:r>
            <a:r>
              <a:rPr lang="it-IT" b="1" dirty="0" err="1"/>
              <a:t>signs</a:t>
            </a:r>
            <a:r>
              <a:rPr lang="it-IT" b="1" dirty="0"/>
              <a:t> of </a:t>
            </a:r>
            <a:r>
              <a:rPr lang="it-IT" b="1" dirty="0" err="1"/>
              <a:t>overfitting</a:t>
            </a:r>
            <a:r>
              <a:rPr lang="it-IT" b="1" dirty="0"/>
              <a:t>.</a:t>
            </a:r>
          </a:p>
          <a:p>
            <a:endParaRPr lang="it-IT" dirty="0"/>
          </a:p>
          <a:p>
            <a:r>
              <a:rPr lang="it-IT" sz="2400" b="1" dirty="0"/>
              <a:t>Future </a:t>
            </a:r>
            <a:r>
              <a:rPr lang="it-IT" sz="2400" b="1" dirty="0" err="1"/>
              <a:t>Enhancements</a:t>
            </a:r>
            <a:endParaRPr lang="it-IT" sz="2400" b="1" dirty="0"/>
          </a:p>
          <a:p>
            <a:r>
              <a:rPr lang="it-IT" b="1" dirty="0" err="1"/>
              <a:t>Hyperparameter</a:t>
            </a:r>
            <a:r>
              <a:rPr lang="it-IT" b="1" dirty="0"/>
              <a:t> Tuning: </a:t>
            </a:r>
            <a:r>
              <a:rPr lang="it-IT" dirty="0" err="1"/>
              <a:t>Systematically</a:t>
            </a:r>
            <a:r>
              <a:rPr lang="it-IT" dirty="0"/>
              <a:t> </a:t>
            </a:r>
            <a:r>
              <a:rPr lang="it-IT" dirty="0" err="1"/>
              <a:t>optimize</a:t>
            </a:r>
            <a:r>
              <a:rPr lang="it-IT" dirty="0"/>
              <a:t> </a:t>
            </a:r>
            <a:r>
              <a:rPr lang="it-IT" dirty="0" err="1"/>
              <a:t>hyperparameters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learning rate,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layers</a:t>
            </a:r>
            <a:r>
              <a:rPr lang="it-IT" dirty="0"/>
              <a:t>,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neurons</a:t>
            </a:r>
            <a:r>
              <a:rPr lang="it-IT" dirty="0"/>
              <a:t> per </a:t>
            </a:r>
            <a:r>
              <a:rPr lang="it-IT" dirty="0" err="1"/>
              <a:t>layer</a:t>
            </a:r>
            <a:r>
              <a:rPr lang="it-IT" dirty="0"/>
              <a:t>, and batch size </a:t>
            </a:r>
            <a:r>
              <a:rPr lang="it-IT" dirty="0" err="1"/>
              <a:t>using</a:t>
            </a:r>
            <a:r>
              <a:rPr lang="it-IT" dirty="0"/>
              <a:t> techniques like </a:t>
            </a:r>
            <a:r>
              <a:rPr lang="it-IT" dirty="0" err="1"/>
              <a:t>Grid</a:t>
            </a:r>
            <a:r>
              <a:rPr lang="it-IT" dirty="0"/>
              <a:t> Search or Random Search. </a:t>
            </a:r>
            <a:r>
              <a:rPr lang="it-IT" b="1" dirty="0" err="1"/>
              <a:t>Exploring</a:t>
            </a:r>
            <a:r>
              <a:rPr lang="it-IT" b="1" dirty="0"/>
              <a:t> Other </a:t>
            </a:r>
            <a:r>
              <a:rPr lang="it-IT" b="1" dirty="0" err="1"/>
              <a:t>Activation</a:t>
            </a:r>
            <a:r>
              <a:rPr lang="it-IT" b="1" dirty="0"/>
              <a:t> </a:t>
            </a:r>
            <a:r>
              <a:rPr lang="it-IT" b="1" dirty="0" err="1"/>
              <a:t>Functions</a:t>
            </a:r>
            <a:r>
              <a:rPr lang="it-IT" b="1" dirty="0"/>
              <a:t>: </a:t>
            </a:r>
            <a:r>
              <a:rPr lang="it-IT" dirty="0"/>
              <a:t>Experiment with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advanced</a:t>
            </a:r>
            <a:r>
              <a:rPr lang="it-IT" dirty="0"/>
              <a:t> </a:t>
            </a:r>
            <a:r>
              <a:rPr lang="it-IT" dirty="0" err="1"/>
              <a:t>activation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 like </a:t>
            </a:r>
            <a:r>
              <a:rPr lang="it-IT" dirty="0" err="1"/>
              <a:t>Leaky</a:t>
            </a:r>
            <a:r>
              <a:rPr lang="it-IT" dirty="0"/>
              <a:t> </a:t>
            </a:r>
            <a:r>
              <a:rPr lang="it-IT" dirty="0" err="1"/>
              <a:t>ReLU</a:t>
            </a:r>
            <a:r>
              <a:rPr lang="it-IT" dirty="0"/>
              <a:t>, ELU, or </a:t>
            </a:r>
            <a:r>
              <a:rPr lang="it-IT" dirty="0" err="1"/>
              <a:t>Swish</a:t>
            </a:r>
            <a:r>
              <a:rPr lang="it-IT" dirty="0"/>
              <a:t>. </a:t>
            </a:r>
            <a:r>
              <a:rPr lang="it-IT" b="1" dirty="0" err="1"/>
              <a:t>Regularization</a:t>
            </a:r>
            <a:r>
              <a:rPr lang="it-IT" b="1" dirty="0"/>
              <a:t> Techniques: </a:t>
            </a:r>
            <a:r>
              <a:rPr lang="it-IT" dirty="0" err="1"/>
              <a:t>Implement</a:t>
            </a:r>
            <a:r>
              <a:rPr lang="it-IT" dirty="0"/>
              <a:t> </a:t>
            </a:r>
            <a:r>
              <a:rPr lang="it-IT" dirty="0" err="1"/>
              <a:t>regularization</a:t>
            </a:r>
            <a:r>
              <a:rPr lang="it-IT" dirty="0"/>
              <a:t> </a:t>
            </a:r>
            <a:r>
              <a:rPr lang="it-IT" dirty="0" err="1"/>
              <a:t>methods</a:t>
            </a:r>
            <a:r>
              <a:rPr lang="it-IT" dirty="0"/>
              <a:t> (e.g., L1/L2 </a:t>
            </a:r>
            <a:r>
              <a:rPr lang="it-IT" dirty="0" err="1"/>
              <a:t>regularization</a:t>
            </a:r>
            <a:r>
              <a:rPr lang="it-IT" dirty="0"/>
              <a:t>, Dropout) to </a:t>
            </a:r>
            <a:r>
              <a:rPr lang="it-IT" dirty="0" err="1"/>
              <a:t>further</a:t>
            </a:r>
            <a:r>
              <a:rPr lang="it-IT" dirty="0"/>
              <a:t> </a:t>
            </a:r>
            <a:r>
              <a:rPr lang="it-IT" dirty="0" err="1"/>
              <a:t>prevent</a:t>
            </a:r>
            <a:r>
              <a:rPr lang="it-IT" dirty="0"/>
              <a:t> </a:t>
            </a:r>
            <a:r>
              <a:rPr lang="it-IT" dirty="0" err="1"/>
              <a:t>overfitting</a:t>
            </a:r>
            <a:r>
              <a:rPr lang="it-IT" dirty="0"/>
              <a:t>, </a:t>
            </a:r>
            <a:r>
              <a:rPr lang="it-IT" dirty="0" err="1"/>
              <a:t>especially</a:t>
            </a:r>
            <a:r>
              <a:rPr lang="it-IT" dirty="0"/>
              <a:t> in more </a:t>
            </a:r>
            <a:r>
              <a:rPr lang="it-IT" dirty="0" err="1"/>
              <a:t>complex</a:t>
            </a:r>
            <a:r>
              <a:rPr lang="it-IT" dirty="0"/>
              <a:t> networks. Advanced Feature </a:t>
            </a:r>
            <a:r>
              <a:rPr lang="it-IT" b="1" dirty="0"/>
              <a:t>Engineering: </a:t>
            </a:r>
            <a:r>
              <a:rPr lang="it-IT" dirty="0"/>
              <a:t>Create new features from </a:t>
            </a:r>
            <a:r>
              <a:rPr lang="it-IT" dirty="0" err="1"/>
              <a:t>existing</a:t>
            </a:r>
            <a:r>
              <a:rPr lang="it-IT" dirty="0"/>
              <a:t> </a:t>
            </a:r>
            <a:r>
              <a:rPr lang="it-IT" dirty="0" err="1"/>
              <a:t>ones</a:t>
            </a:r>
            <a:r>
              <a:rPr lang="it-IT" dirty="0"/>
              <a:t> (e.g., </a:t>
            </a:r>
            <a:r>
              <a:rPr lang="it-IT" dirty="0" err="1"/>
              <a:t>geographical</a:t>
            </a:r>
            <a:r>
              <a:rPr lang="it-IT" dirty="0"/>
              <a:t> clusters, </a:t>
            </a:r>
            <a:r>
              <a:rPr lang="it-IT" dirty="0" err="1"/>
              <a:t>polynomial</a:t>
            </a:r>
            <a:r>
              <a:rPr lang="it-IT" dirty="0"/>
              <a:t> features) to </a:t>
            </a:r>
            <a:r>
              <a:rPr lang="it-IT" dirty="0" err="1"/>
              <a:t>potentially</a:t>
            </a:r>
            <a:r>
              <a:rPr lang="it-IT" dirty="0"/>
              <a:t> </a:t>
            </a:r>
            <a:r>
              <a:rPr lang="it-IT" dirty="0" err="1"/>
              <a:t>capture</a:t>
            </a:r>
            <a:r>
              <a:rPr lang="it-IT" dirty="0"/>
              <a:t> more </a:t>
            </a:r>
            <a:r>
              <a:rPr lang="it-IT" dirty="0" err="1"/>
              <a:t>complex</a:t>
            </a:r>
            <a:r>
              <a:rPr lang="it-IT" dirty="0"/>
              <a:t> </a:t>
            </a:r>
            <a:r>
              <a:rPr lang="it-IT" dirty="0" err="1"/>
              <a:t>relationships</a:t>
            </a:r>
            <a:r>
              <a:rPr lang="it-IT" dirty="0"/>
              <a:t>. </a:t>
            </a:r>
            <a:r>
              <a:rPr lang="it-IT" b="1" dirty="0"/>
              <a:t>Ensemble Methods: </a:t>
            </a:r>
            <a:r>
              <a:rPr lang="it-IT" dirty="0"/>
              <a:t>Combine </a:t>
            </a:r>
            <a:r>
              <a:rPr lang="it-IT" dirty="0" err="1"/>
              <a:t>predictions</a:t>
            </a:r>
            <a:r>
              <a:rPr lang="it-IT" dirty="0"/>
              <a:t> from multiple models to </a:t>
            </a:r>
            <a:r>
              <a:rPr lang="it-IT" dirty="0" err="1"/>
              <a:t>potentially</a:t>
            </a:r>
            <a:r>
              <a:rPr lang="it-IT" dirty="0"/>
              <a:t> </a:t>
            </a:r>
            <a:r>
              <a:rPr lang="it-IT" dirty="0" err="1"/>
              <a:t>improve</a:t>
            </a:r>
            <a:r>
              <a:rPr lang="it-IT" dirty="0"/>
              <a:t> </a:t>
            </a:r>
            <a:r>
              <a:rPr lang="it-IT" dirty="0" err="1"/>
              <a:t>robustness</a:t>
            </a:r>
            <a:r>
              <a:rPr lang="it-IT" dirty="0"/>
              <a:t> and </a:t>
            </a:r>
            <a:r>
              <a:rPr lang="it-IT" dirty="0" err="1"/>
              <a:t>accuracy</a:t>
            </a:r>
            <a:r>
              <a:rPr lang="it-IT" dirty="0"/>
              <a:t>.</a:t>
            </a:r>
          </a:p>
          <a:p>
            <a:endParaRPr lang="it-IT" dirty="0"/>
          </a:p>
          <a:p>
            <a:endParaRPr lang="it-IT" dirty="0"/>
          </a:p>
          <a:p>
            <a:r>
              <a:rPr lang="it-IT" sz="3600" dirty="0"/>
              <a:t>Thank You &amp; Q&amp;A</a:t>
            </a:r>
          </a:p>
        </p:txBody>
      </p:sp>
    </p:spTree>
    <p:extLst>
      <p:ext uri="{BB962C8B-B14F-4D97-AF65-F5344CB8AC3E}">
        <p14:creationId xmlns:p14="http://schemas.microsoft.com/office/powerpoint/2010/main" val="31139518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e">
  <a:themeElements>
    <a:clrScheme name="Ione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216</TotalTime>
  <Words>2463</Words>
  <Application>Microsoft Office PowerPoint</Application>
  <PresentationFormat>Widescreen</PresentationFormat>
  <Paragraphs>142</Paragraphs>
  <Slides>11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Aptos</vt:lpstr>
      <vt:lpstr>Arial</vt:lpstr>
      <vt:lpstr>Century Gothic</vt:lpstr>
      <vt:lpstr>Wingdings 3</vt:lpstr>
      <vt:lpstr>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 C</dc:creator>
  <cp:lastModifiedBy>D C</cp:lastModifiedBy>
  <cp:revision>19</cp:revision>
  <dcterms:created xsi:type="dcterms:W3CDTF">2026-04-26T12:16:12Z</dcterms:created>
  <dcterms:modified xsi:type="dcterms:W3CDTF">2026-04-26T18:37:46Z</dcterms:modified>
</cp:coreProperties>
</file>