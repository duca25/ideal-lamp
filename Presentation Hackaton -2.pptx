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6BC2FA-E529-4CC5-9D94-0A7EBCD36462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D0C9A-1E17-4604-8945-957DBEB228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7449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D0C9A-1E17-4604-8945-957DBEB228EA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1946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5646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2093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592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4205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4518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8079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2749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15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4184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387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8846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4657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26090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49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1737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0716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1790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5463FA0-1768-4095-9F24-714B91626191}" type="datetimeFigureOut">
              <a:rPr lang="it-IT" smtClean="0"/>
              <a:t>27/04/2026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96006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CA945E17-AE44-6218-A43F-59F1D84B119F}"/>
              </a:ext>
            </a:extLst>
          </p:cNvPr>
          <p:cNvSpPr txBox="1"/>
          <p:nvPr/>
        </p:nvSpPr>
        <p:spPr>
          <a:xfrm>
            <a:off x="1061884" y="910612"/>
            <a:ext cx="12044516" cy="861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Neural Networks for Regression: An Exploration of Activation Functions</a:t>
            </a:r>
          </a:p>
          <a:p>
            <a:r>
              <a:rPr lang="en-US" sz="3200" dirty="0"/>
              <a:t>Predicting California Housing Prices</a:t>
            </a:r>
          </a:p>
          <a:p>
            <a:r>
              <a:rPr lang="en-US" sz="2000" b="1" dirty="0"/>
              <a:t>Group Name/Members:</a:t>
            </a:r>
            <a:r>
              <a:rPr lang="en-US" dirty="0"/>
              <a:t> </a:t>
            </a:r>
            <a:r>
              <a:rPr lang="en-US" b="1" dirty="0"/>
              <a:t>UH</a:t>
            </a:r>
            <a:r>
              <a:rPr lang="en-US" dirty="0"/>
              <a:t> </a:t>
            </a:r>
            <a:r>
              <a:rPr lang="en-US" b="1" dirty="0"/>
              <a:t>ML - </a:t>
            </a:r>
            <a:r>
              <a:rPr lang="en-US" b="1" dirty="0" err="1"/>
              <a:t>Hackaton</a:t>
            </a:r>
            <a:r>
              <a:rPr lang="en-US" b="1" dirty="0"/>
              <a:t> Group 3/Atif Ahmed</a:t>
            </a:r>
          </a:p>
          <a:p>
            <a:r>
              <a:rPr lang="en-US" b="1" dirty="0"/>
              <a:t>                                                                                               Sana Amber</a:t>
            </a:r>
          </a:p>
          <a:p>
            <a:r>
              <a:rPr lang="en-US" b="1" dirty="0"/>
              <a:t>                                                                                               </a:t>
            </a:r>
            <a:r>
              <a:rPr lang="en-US" b="1" dirty="0" err="1"/>
              <a:t>Sabthami</a:t>
            </a:r>
            <a:r>
              <a:rPr lang="en-US" b="1" dirty="0"/>
              <a:t> Balasubramanian</a:t>
            </a:r>
          </a:p>
          <a:p>
            <a:r>
              <a:rPr lang="en-US" b="1" dirty="0"/>
              <a:t>                                                                                               Dunja Calianno</a:t>
            </a:r>
          </a:p>
          <a:p>
            <a:r>
              <a:rPr lang="en-US" b="1" dirty="0"/>
              <a:t>                                                                                               Akash </a:t>
            </a:r>
            <a:r>
              <a:rPr lang="en-US" b="1" dirty="0" err="1"/>
              <a:t>Govardhane</a:t>
            </a:r>
            <a:endParaRPr lang="en-US" b="1" dirty="0"/>
          </a:p>
          <a:p>
            <a:r>
              <a:rPr lang="en-US" b="1" dirty="0"/>
              <a:t>                                                                                               Srilekha </a:t>
            </a:r>
            <a:r>
              <a:rPr lang="en-US" b="1" dirty="0" err="1"/>
              <a:t>Pachaiyappan</a:t>
            </a:r>
            <a:endParaRPr lang="en-US" b="1" dirty="0"/>
          </a:p>
          <a:p>
            <a:r>
              <a:rPr lang="en-US" b="1" dirty="0"/>
              <a:t>                                                                                               Iffat Naeem Ali Shaikh</a:t>
            </a:r>
          </a:p>
          <a:p>
            <a:r>
              <a:rPr lang="en-US" b="1" dirty="0"/>
              <a:t>                                                                                               Mohammad Moaz Tahir </a:t>
            </a:r>
          </a:p>
          <a:p>
            <a:endParaRPr lang="en-US" b="1" dirty="0"/>
          </a:p>
          <a:p>
            <a:endParaRPr lang="en-US" b="1" dirty="0"/>
          </a:p>
          <a:p>
            <a:endParaRPr lang="it-IT" dirty="0"/>
          </a:p>
          <a:p>
            <a:r>
              <a:rPr lang="it-IT" dirty="0"/>
              <a:t>  </a:t>
            </a:r>
          </a:p>
          <a:p>
            <a:r>
              <a:rPr lang="it-IT" dirty="0"/>
              <a:t>Date: 26/04/2026                                                                            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r>
              <a:rPr lang="en-US" dirty="0"/>
              <a:t>Date: April 28th, 2026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79145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20A4C80-F641-2004-B368-42FF007067E7}"/>
              </a:ext>
            </a:extLst>
          </p:cNvPr>
          <p:cNvSpPr txBox="1"/>
          <p:nvPr/>
        </p:nvSpPr>
        <p:spPr>
          <a:xfrm>
            <a:off x="2595716" y="1228294"/>
            <a:ext cx="1219200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Group Name/Members: UH ML - Hackaton Group 3</a:t>
            </a:r>
            <a:r>
              <a:rPr lang="it-IT" dirty="0"/>
              <a:t>/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sz="2400" dirty="0"/>
          </a:p>
          <a:p>
            <a:r>
              <a:rPr lang="it-IT" sz="2400" dirty="0"/>
              <a:t> </a:t>
            </a:r>
            <a:r>
              <a:rPr lang="it-IT" sz="2400" dirty="0" err="1"/>
              <a:t>Member</a:t>
            </a:r>
            <a:r>
              <a:rPr lang="it-IT" sz="2400" dirty="0"/>
              <a:t> 1 – Role - Atif Ahmed</a:t>
            </a:r>
          </a:p>
          <a:p>
            <a:r>
              <a:rPr lang="it-IT" sz="2400" dirty="0"/>
              <a:t> </a:t>
            </a:r>
            <a:r>
              <a:rPr lang="it-IT" sz="2400" dirty="0" err="1"/>
              <a:t>Member</a:t>
            </a:r>
            <a:r>
              <a:rPr lang="it-IT" sz="2400" dirty="0"/>
              <a:t> 2 – Role - Sana Amber</a:t>
            </a:r>
          </a:p>
          <a:p>
            <a:r>
              <a:rPr lang="it-IT" sz="2400" dirty="0"/>
              <a:t> </a:t>
            </a:r>
            <a:r>
              <a:rPr lang="it-IT" sz="2400" dirty="0" err="1"/>
              <a:t>Member</a:t>
            </a:r>
            <a:r>
              <a:rPr lang="it-IT" sz="2400" dirty="0"/>
              <a:t> 3 – Role - </a:t>
            </a:r>
            <a:r>
              <a:rPr lang="it-IT" sz="2400" dirty="0" err="1"/>
              <a:t>Sabthami</a:t>
            </a:r>
            <a:r>
              <a:rPr lang="it-IT" sz="2400" dirty="0"/>
              <a:t> Balasubramanian</a:t>
            </a:r>
          </a:p>
          <a:p>
            <a:r>
              <a:rPr lang="it-IT" sz="2400" dirty="0"/>
              <a:t> </a:t>
            </a:r>
            <a:r>
              <a:rPr lang="it-IT" sz="2400" dirty="0" err="1"/>
              <a:t>Member</a:t>
            </a:r>
            <a:r>
              <a:rPr lang="it-IT" sz="2400" dirty="0"/>
              <a:t> 4 – Role - Dunja Calianno</a:t>
            </a:r>
          </a:p>
          <a:p>
            <a:r>
              <a:rPr lang="it-IT" sz="2400" dirty="0"/>
              <a:t> </a:t>
            </a:r>
            <a:r>
              <a:rPr lang="it-IT" sz="2400" dirty="0" err="1"/>
              <a:t>Member</a:t>
            </a:r>
            <a:r>
              <a:rPr lang="it-IT" sz="2400" dirty="0"/>
              <a:t> 5 – Role - Akash </a:t>
            </a:r>
            <a:r>
              <a:rPr lang="it-IT" sz="2400" dirty="0" err="1"/>
              <a:t>Govardhane</a:t>
            </a:r>
            <a:endParaRPr lang="it-IT" sz="2400" dirty="0"/>
          </a:p>
          <a:p>
            <a:r>
              <a:rPr lang="it-IT" sz="2400" dirty="0"/>
              <a:t> </a:t>
            </a:r>
            <a:r>
              <a:rPr lang="it-IT" sz="2400" dirty="0" err="1"/>
              <a:t>Member</a:t>
            </a:r>
            <a:r>
              <a:rPr lang="it-IT" sz="2400" dirty="0"/>
              <a:t> 6 – Role - Srilekha </a:t>
            </a:r>
            <a:r>
              <a:rPr lang="it-IT" sz="2400" dirty="0" err="1"/>
              <a:t>Pachaiyappan</a:t>
            </a:r>
            <a:endParaRPr lang="it-IT" sz="2400" dirty="0"/>
          </a:p>
          <a:p>
            <a:r>
              <a:rPr lang="it-IT" sz="2400" dirty="0"/>
              <a:t> </a:t>
            </a:r>
            <a:r>
              <a:rPr lang="it-IT" sz="2400" dirty="0" err="1"/>
              <a:t>Member</a:t>
            </a:r>
            <a:r>
              <a:rPr lang="it-IT" sz="2400" dirty="0"/>
              <a:t> 7 – Role - Iffat Naeem Ali Shaikh</a:t>
            </a:r>
          </a:p>
          <a:p>
            <a:r>
              <a:rPr lang="it-IT" sz="2400" dirty="0"/>
              <a:t> </a:t>
            </a:r>
            <a:r>
              <a:rPr lang="it-IT" sz="2400" dirty="0" err="1"/>
              <a:t>Member</a:t>
            </a:r>
            <a:r>
              <a:rPr lang="it-IT" sz="2400" dirty="0"/>
              <a:t> 8 - Role - Mohammad Moaz Tahir </a:t>
            </a:r>
          </a:p>
        </p:txBody>
      </p:sp>
    </p:spTree>
    <p:extLst>
      <p:ext uri="{BB962C8B-B14F-4D97-AF65-F5344CB8AC3E}">
        <p14:creationId xmlns:p14="http://schemas.microsoft.com/office/powerpoint/2010/main" val="4137923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D2446614-CA96-0A92-62A8-D6D45DA72F34}"/>
              </a:ext>
            </a:extLst>
          </p:cNvPr>
          <p:cNvSpPr txBox="1"/>
          <p:nvPr/>
        </p:nvSpPr>
        <p:spPr>
          <a:xfrm>
            <a:off x="0" y="0"/>
            <a:ext cx="121920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/>
              <a:t>Introduction &amp; Problem Statement</a:t>
            </a:r>
          </a:p>
          <a:p>
            <a:endParaRPr lang="en-US" dirty="0"/>
          </a:p>
          <a:p>
            <a:r>
              <a:rPr lang="en-US" sz="3200" b="1" dirty="0"/>
              <a:t>Goal:</a:t>
            </a:r>
            <a:r>
              <a:rPr lang="en-US" sz="3200" dirty="0"/>
              <a:t> Predict California housing prices using Neural Networks (NNs). </a:t>
            </a:r>
          </a:p>
          <a:p>
            <a:endParaRPr lang="en-US" sz="3200" dirty="0"/>
          </a:p>
          <a:p>
            <a:r>
              <a:rPr lang="en-US" sz="3200" b="1" dirty="0"/>
              <a:t>Key Question: </a:t>
            </a:r>
            <a:r>
              <a:rPr lang="en-US" sz="3200" dirty="0"/>
              <a:t>How do different activation functions (</a:t>
            </a:r>
            <a:r>
              <a:rPr lang="en-US" sz="3200" dirty="0" err="1"/>
              <a:t>ReLU</a:t>
            </a:r>
            <a:r>
              <a:rPr lang="en-US" sz="3200" dirty="0"/>
              <a:t>, Sigmoid, Tanh) impact NN performance in regression tasks? </a:t>
            </a:r>
          </a:p>
          <a:p>
            <a:endParaRPr lang="en-US" sz="3200" dirty="0"/>
          </a:p>
          <a:p>
            <a:r>
              <a:rPr lang="en-US" sz="3200" b="1" dirty="0"/>
              <a:t>Approach: </a:t>
            </a:r>
            <a:r>
              <a:rPr lang="en-US" sz="3200" dirty="0"/>
              <a:t>Build, train, and evaluate NNs with different activation functions to understand their effectiveness.</a:t>
            </a:r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3650028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122D5D8F-683C-8483-F9DD-5FB83B7A71C3}"/>
              </a:ext>
            </a:extLst>
          </p:cNvPr>
          <p:cNvSpPr txBox="1"/>
          <p:nvPr/>
        </p:nvSpPr>
        <p:spPr>
          <a:xfrm>
            <a:off x="88490" y="189971"/>
            <a:ext cx="12034684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Dataset </a:t>
            </a:r>
            <a:r>
              <a:rPr lang="it-IT" sz="2800" b="1" dirty="0" err="1"/>
              <a:t>Overview</a:t>
            </a:r>
            <a:r>
              <a:rPr lang="it-IT" sz="2800" b="1" dirty="0"/>
              <a:t> - California Housing</a:t>
            </a:r>
          </a:p>
          <a:p>
            <a:endParaRPr lang="it-IT" sz="2800" b="1" dirty="0"/>
          </a:p>
          <a:p>
            <a:r>
              <a:rPr lang="it-IT" sz="2000" b="1" dirty="0"/>
              <a:t>Source</a:t>
            </a:r>
            <a:r>
              <a:rPr lang="it-IT" sz="2000" dirty="0"/>
              <a:t>: </a:t>
            </a:r>
            <a:r>
              <a:rPr lang="it-IT" sz="2000" dirty="0" err="1"/>
              <a:t>sklearn.datasets.fetch_california_housing</a:t>
            </a:r>
            <a:endParaRPr lang="it-IT" sz="2000" dirty="0"/>
          </a:p>
          <a:p>
            <a:r>
              <a:rPr lang="it-IT" sz="2000" b="1" dirty="0"/>
              <a:t>Target </a:t>
            </a:r>
            <a:r>
              <a:rPr lang="it-IT" sz="2000" b="1" dirty="0" err="1"/>
              <a:t>Variable</a:t>
            </a:r>
            <a:r>
              <a:rPr lang="it-IT" sz="2000" dirty="0"/>
              <a:t>: MEDV (Median House Value)</a:t>
            </a:r>
          </a:p>
          <a:p>
            <a:r>
              <a:rPr lang="it-IT" sz="2000" b="1" dirty="0"/>
              <a:t>Features</a:t>
            </a:r>
            <a:r>
              <a:rPr lang="it-IT" sz="2000" dirty="0"/>
              <a:t>: Median </a:t>
            </a:r>
            <a:r>
              <a:rPr lang="it-IT" sz="2000" dirty="0" err="1"/>
              <a:t>Income</a:t>
            </a:r>
            <a:r>
              <a:rPr lang="it-IT" sz="2000" dirty="0"/>
              <a:t>, House Age, </a:t>
            </a:r>
            <a:r>
              <a:rPr lang="it-IT" sz="2000" dirty="0" err="1"/>
              <a:t>Average</a:t>
            </a:r>
            <a:r>
              <a:rPr lang="it-IT" sz="2000" dirty="0"/>
              <a:t> Rooms, </a:t>
            </a:r>
            <a:r>
              <a:rPr lang="it-IT" sz="2000" dirty="0" err="1"/>
              <a:t>Population</a:t>
            </a:r>
            <a:r>
              <a:rPr lang="it-IT" sz="2000" dirty="0"/>
              <a:t>, </a:t>
            </a:r>
            <a:r>
              <a:rPr lang="it-IT" sz="2000" dirty="0" err="1"/>
              <a:t>Latitude</a:t>
            </a:r>
            <a:r>
              <a:rPr lang="it-IT" sz="2000" dirty="0"/>
              <a:t>, </a:t>
            </a:r>
            <a:r>
              <a:rPr lang="it-IT" sz="2000" dirty="0" err="1"/>
              <a:t>Longitude</a:t>
            </a:r>
            <a:r>
              <a:rPr lang="it-IT" sz="2000" dirty="0"/>
              <a:t>, etc.</a:t>
            </a:r>
          </a:p>
          <a:p>
            <a:r>
              <a:rPr lang="it-IT" sz="2000" b="1" dirty="0"/>
              <a:t>Snapshot of Data</a:t>
            </a:r>
            <a:r>
              <a:rPr lang="it-IT" sz="2000" dirty="0"/>
              <a:t> (First 5 </a:t>
            </a:r>
            <a:r>
              <a:rPr lang="it-IT" sz="2000" dirty="0" err="1"/>
              <a:t>Rows</a:t>
            </a:r>
            <a:r>
              <a:rPr lang="it-IT" sz="2000" dirty="0"/>
              <a:t>):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7FD83F3-6D38-E331-2174-4A8EC6749F37}"/>
              </a:ext>
            </a:extLst>
          </p:cNvPr>
          <p:cNvSpPr txBox="1"/>
          <p:nvPr/>
        </p:nvSpPr>
        <p:spPr>
          <a:xfrm>
            <a:off x="462116" y="2375185"/>
            <a:ext cx="1210351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MedInc</a:t>
            </a:r>
            <a:r>
              <a:rPr lang="it-IT" dirty="0"/>
              <a:t>  </a:t>
            </a:r>
            <a:r>
              <a:rPr lang="it-IT" dirty="0" err="1"/>
              <a:t>HouseAge</a:t>
            </a:r>
            <a:r>
              <a:rPr lang="it-IT" dirty="0"/>
              <a:t>  </a:t>
            </a:r>
            <a:r>
              <a:rPr lang="it-IT" dirty="0" err="1"/>
              <a:t>AveRooms</a:t>
            </a:r>
            <a:r>
              <a:rPr lang="it-IT" dirty="0"/>
              <a:t>  </a:t>
            </a:r>
            <a:r>
              <a:rPr lang="it-IT" dirty="0" err="1"/>
              <a:t>AveBedrms</a:t>
            </a:r>
            <a:r>
              <a:rPr lang="it-IT" dirty="0"/>
              <a:t>  </a:t>
            </a:r>
            <a:r>
              <a:rPr lang="it-IT" dirty="0" err="1"/>
              <a:t>Population</a:t>
            </a:r>
            <a:r>
              <a:rPr lang="it-IT" dirty="0"/>
              <a:t>  </a:t>
            </a:r>
            <a:r>
              <a:rPr lang="it-IT" dirty="0" err="1"/>
              <a:t>AveOccup</a:t>
            </a:r>
            <a:r>
              <a:rPr lang="it-IT" dirty="0"/>
              <a:t>  </a:t>
            </a:r>
            <a:r>
              <a:rPr lang="it-IT" dirty="0" err="1"/>
              <a:t>Latitude</a:t>
            </a:r>
            <a:r>
              <a:rPr lang="it-IT" dirty="0"/>
              <a:t>  \</a:t>
            </a:r>
          </a:p>
          <a:p>
            <a:r>
              <a:rPr lang="it-IT" dirty="0"/>
              <a:t>0      8.3252      41.0  6.984127   1.023810       322.0  2.555556     37.88   </a:t>
            </a:r>
          </a:p>
          <a:p>
            <a:r>
              <a:rPr lang="it-IT" dirty="0"/>
              <a:t>1      8.3014      21.0  6.238137   0.971880      2401.0  2.109842     37.86   </a:t>
            </a:r>
          </a:p>
          <a:p>
            <a:r>
              <a:rPr lang="it-IT" dirty="0"/>
              <a:t>2      7.2574      52.0  8.288136   1.073446       496.0  2.802260     37.85   </a:t>
            </a:r>
          </a:p>
          <a:p>
            <a:r>
              <a:rPr lang="it-IT" dirty="0"/>
              <a:t>3      5.6431      52.0  5.817352   1.073059       558.0  2.547945     37.85   </a:t>
            </a:r>
          </a:p>
          <a:p>
            <a:r>
              <a:rPr lang="it-IT" dirty="0"/>
              <a:t>4      3.8462      52.0  6.281853   1.081081       565.0  2.181467     37.85   </a:t>
            </a:r>
          </a:p>
          <a:p>
            <a:endParaRPr lang="it-IT" dirty="0"/>
          </a:p>
          <a:p>
            <a:r>
              <a:rPr lang="it-IT" dirty="0"/>
              <a:t>   </a:t>
            </a:r>
            <a:r>
              <a:rPr lang="it-IT" dirty="0" err="1"/>
              <a:t>Longitude</a:t>
            </a:r>
            <a:r>
              <a:rPr lang="it-IT" dirty="0"/>
              <a:t>  </a:t>
            </a:r>
            <a:r>
              <a:rPr lang="it-IT" dirty="0" err="1"/>
              <a:t>MedHouseVal</a:t>
            </a:r>
            <a:r>
              <a:rPr lang="it-IT" dirty="0"/>
              <a:t>   MEDV  </a:t>
            </a:r>
          </a:p>
          <a:p>
            <a:r>
              <a:rPr lang="it-IT" dirty="0"/>
              <a:t>0    -122.23        4.526  4.526  </a:t>
            </a:r>
          </a:p>
          <a:p>
            <a:r>
              <a:rPr lang="it-IT" dirty="0"/>
              <a:t>1    -122.22        3.585  3.585  </a:t>
            </a:r>
          </a:p>
          <a:p>
            <a:r>
              <a:rPr lang="it-IT" dirty="0"/>
              <a:t>2    -122.24        3.521  3.521  </a:t>
            </a:r>
          </a:p>
          <a:p>
            <a:r>
              <a:rPr lang="it-IT" dirty="0"/>
              <a:t>3    -122.25        3.413  3.413  </a:t>
            </a:r>
          </a:p>
          <a:p>
            <a:r>
              <a:rPr lang="it-IT" dirty="0"/>
              <a:t>4    -122.25        3.422  3.422 </a:t>
            </a:r>
          </a:p>
        </p:txBody>
      </p:sp>
    </p:spTree>
    <p:extLst>
      <p:ext uri="{BB962C8B-B14F-4D97-AF65-F5344CB8AC3E}">
        <p14:creationId xmlns:p14="http://schemas.microsoft.com/office/powerpoint/2010/main" val="2828127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8067352A-0FE5-32A7-9052-A86736F3E760}"/>
              </a:ext>
            </a:extLst>
          </p:cNvPr>
          <p:cNvSpPr txBox="1"/>
          <p:nvPr/>
        </p:nvSpPr>
        <p:spPr>
          <a:xfrm>
            <a:off x="0" y="0"/>
            <a:ext cx="12192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Exploratory Data Analysis (EDA) - Data Distribution</a:t>
            </a:r>
          </a:p>
          <a:p>
            <a:endParaRPr lang="en-US" dirty="0"/>
          </a:p>
          <a:p>
            <a:r>
              <a:rPr lang="en-US" b="1" dirty="0"/>
              <a:t>Histograms</a:t>
            </a:r>
            <a:r>
              <a:rPr lang="en-US" dirty="0"/>
              <a:t>: Show the distribution of individual features. Most features exhibit skewed distributions.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6469249-AE85-DDD0-C2F8-0772A1E40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638" y="1058230"/>
            <a:ext cx="10156723" cy="46625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1CAC2C6-BEF1-A72A-1F6A-1A03F20C4F87}"/>
              </a:ext>
            </a:extLst>
          </p:cNvPr>
          <p:cNvSpPr txBox="1"/>
          <p:nvPr/>
        </p:nvSpPr>
        <p:spPr>
          <a:xfrm>
            <a:off x="0" y="4900490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b="1" dirty="0"/>
              <a:t>Missing Values</a:t>
            </a:r>
            <a:r>
              <a:rPr lang="en-US" dirty="0"/>
              <a:t>: No missing values were found in the dataset, ensuring data quality for modeling.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19533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7C616EF-190A-07B2-FC2D-A333A9638C2B}"/>
              </a:ext>
            </a:extLst>
          </p:cNvPr>
          <p:cNvSpPr txBox="1"/>
          <p:nvPr/>
        </p:nvSpPr>
        <p:spPr>
          <a:xfrm>
            <a:off x="9832" y="105013"/>
            <a:ext cx="121920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Exploratory Data Analysis (EDA) - Feature Relationships</a:t>
            </a:r>
          </a:p>
          <a:p>
            <a:endParaRPr lang="en-US" dirty="0"/>
          </a:p>
          <a:p>
            <a:r>
              <a:rPr lang="en-US" sz="2000" b="1" dirty="0"/>
              <a:t>Scatter Plots: </a:t>
            </a:r>
            <a:r>
              <a:rPr lang="en-US" dirty="0"/>
              <a:t>Visualize relationships between key features and the target variable (MEDV).</a:t>
            </a:r>
          </a:p>
          <a:p>
            <a:r>
              <a:rPr lang="en-US" b="1" dirty="0"/>
              <a:t>Observation: </a:t>
            </a:r>
            <a:r>
              <a:rPr lang="en-US" dirty="0" err="1"/>
              <a:t>MedInc</a:t>
            </a:r>
            <a:r>
              <a:rPr lang="en-US" dirty="0"/>
              <a:t> (Median Income) shows a strong positive correlation with MEDV.</a:t>
            </a:r>
          </a:p>
          <a:p>
            <a:r>
              <a:rPr lang="en-US" b="1" dirty="0"/>
              <a:t>Correlation Matrix: </a:t>
            </a:r>
            <a:r>
              <a:rPr lang="en-US" dirty="0"/>
              <a:t>Quantifies the linear relationships between all features.</a:t>
            </a:r>
          </a:p>
          <a:p>
            <a:r>
              <a:rPr lang="en-US" b="1" dirty="0"/>
              <a:t>Observation: </a:t>
            </a:r>
            <a:r>
              <a:rPr lang="en-US" dirty="0" err="1"/>
              <a:t>MedInc</a:t>
            </a:r>
            <a:r>
              <a:rPr lang="en-US" dirty="0"/>
              <a:t> and </a:t>
            </a:r>
            <a:r>
              <a:rPr lang="en-US" dirty="0" err="1"/>
              <a:t>MedHouseVal</a:t>
            </a:r>
            <a:r>
              <a:rPr lang="en-US" dirty="0"/>
              <a:t> are highly correlated with the target.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1D1CC20-DF87-6B7B-E789-7F64A6B16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9" y="2061687"/>
            <a:ext cx="5742040" cy="4691299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73366473-A0F8-687B-4181-26B8AAEE5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348" y="2061686"/>
            <a:ext cx="6145163" cy="469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345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16D7CCA5-8B69-A8FF-3647-3F8193DB2A44}"/>
              </a:ext>
            </a:extLst>
          </p:cNvPr>
          <p:cNvSpPr txBox="1"/>
          <p:nvPr/>
        </p:nvSpPr>
        <p:spPr>
          <a:xfrm>
            <a:off x="98323" y="274290"/>
            <a:ext cx="1227065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Data Preprocessing</a:t>
            </a:r>
          </a:p>
          <a:p>
            <a:endParaRPr lang="en-US" sz="4000" b="1" dirty="0"/>
          </a:p>
          <a:p>
            <a:endParaRPr lang="en-US" dirty="0"/>
          </a:p>
          <a:p>
            <a:endParaRPr lang="en-US" dirty="0"/>
          </a:p>
          <a:p>
            <a:r>
              <a:rPr lang="en-US" sz="2800" b="1" dirty="0"/>
              <a:t>Feature/Target Separation</a:t>
            </a:r>
            <a:r>
              <a:rPr lang="en-US" sz="2000" dirty="0"/>
              <a:t>: X (features), y (target MEDV).</a:t>
            </a:r>
          </a:p>
          <a:p>
            <a:r>
              <a:rPr lang="en-US" sz="2800" b="1" dirty="0"/>
              <a:t>Train-Test Split</a:t>
            </a:r>
            <a:r>
              <a:rPr lang="en-US" sz="2000" dirty="0"/>
              <a:t>: Data divided into 80% training set and 20% testing set (</a:t>
            </a:r>
            <a:r>
              <a:rPr lang="en-US" sz="2000" dirty="0" err="1"/>
              <a:t>random_state</a:t>
            </a:r>
            <a:r>
              <a:rPr lang="en-US" sz="2000" dirty="0"/>
              <a:t>=42).</a:t>
            </a:r>
          </a:p>
          <a:p>
            <a:r>
              <a:rPr lang="en-US" sz="2800" b="1" dirty="0"/>
              <a:t>Training set shape</a:t>
            </a:r>
            <a:r>
              <a:rPr lang="en-US" sz="2000" dirty="0"/>
              <a:t>: (16512, 9)</a:t>
            </a:r>
          </a:p>
          <a:p>
            <a:r>
              <a:rPr lang="en-US" sz="2800" b="1" dirty="0"/>
              <a:t>Testing set shape</a:t>
            </a:r>
            <a:r>
              <a:rPr lang="en-US" sz="2000" dirty="0"/>
              <a:t>: (4128, 9)</a:t>
            </a:r>
          </a:p>
          <a:p>
            <a:r>
              <a:rPr lang="en-US" sz="2800" b="1" dirty="0"/>
              <a:t>Feature Scaling (Standardization)</a:t>
            </a:r>
            <a:r>
              <a:rPr lang="en-US" sz="2000" dirty="0"/>
              <a:t>:</a:t>
            </a:r>
            <a:r>
              <a:rPr lang="en-US" sz="2800" b="1" dirty="0"/>
              <a:t> </a:t>
            </a:r>
            <a:r>
              <a:rPr lang="en-US" sz="2000" dirty="0"/>
              <a:t>Applied </a:t>
            </a:r>
            <a:r>
              <a:rPr lang="en-US" sz="2000" dirty="0" err="1"/>
              <a:t>StandardScaler</a:t>
            </a:r>
            <a:r>
              <a:rPr lang="en-US" sz="2000" dirty="0"/>
              <a:t> to </a:t>
            </a:r>
            <a:r>
              <a:rPr lang="en-US" sz="2000" dirty="0" err="1"/>
              <a:t>X_train</a:t>
            </a:r>
            <a:r>
              <a:rPr lang="en-US" sz="2000" dirty="0"/>
              <a:t> and </a:t>
            </a:r>
            <a:r>
              <a:rPr lang="en-US" sz="2000" dirty="0" err="1"/>
              <a:t>X_test</a:t>
            </a:r>
            <a:r>
              <a:rPr lang="en-US" sz="2000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800" b="1" dirty="0"/>
              <a:t>Why</a:t>
            </a:r>
            <a:r>
              <a:rPr lang="en-US" sz="2000" dirty="0"/>
              <a:t>: Essential for Neural Networks to ensure features contribute equally and to speed up convergence.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424244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1B209264-D611-2B30-478D-E5DA1620DBAA}"/>
              </a:ext>
            </a:extLst>
          </p:cNvPr>
          <p:cNvSpPr txBox="1"/>
          <p:nvPr/>
        </p:nvSpPr>
        <p:spPr>
          <a:xfrm>
            <a:off x="216309" y="285135"/>
            <a:ext cx="12260826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000" b="1" dirty="0" err="1"/>
              <a:t>Neural</a:t>
            </a:r>
            <a:r>
              <a:rPr lang="it-IT" sz="4000" b="1" dirty="0"/>
              <a:t> Network Architecture</a:t>
            </a:r>
          </a:p>
          <a:p>
            <a:endParaRPr lang="it-IT" sz="4000" b="1" dirty="0"/>
          </a:p>
          <a:p>
            <a:r>
              <a:rPr lang="it-IT" b="1" dirty="0"/>
              <a:t>Model </a:t>
            </a:r>
            <a:r>
              <a:rPr lang="it-IT" b="1" dirty="0" err="1"/>
              <a:t>Type</a:t>
            </a:r>
            <a:r>
              <a:rPr lang="it-IT" dirty="0"/>
              <a:t>: Simple </a:t>
            </a:r>
            <a:r>
              <a:rPr lang="it-IT" dirty="0" err="1"/>
              <a:t>Sequential</a:t>
            </a:r>
            <a:r>
              <a:rPr lang="it-IT" dirty="0"/>
              <a:t> </a:t>
            </a:r>
            <a:r>
              <a:rPr lang="it-IT" dirty="0" err="1"/>
              <a:t>Keras</a:t>
            </a:r>
            <a:r>
              <a:rPr lang="it-IT" dirty="0"/>
              <a:t> Model.</a:t>
            </a:r>
          </a:p>
          <a:p>
            <a:endParaRPr lang="it-IT" dirty="0"/>
          </a:p>
          <a:p>
            <a:r>
              <a:rPr lang="it-IT" b="1" dirty="0" err="1"/>
              <a:t>Layers</a:t>
            </a:r>
            <a:r>
              <a:rPr lang="it-IT" dirty="0"/>
              <a:t>:</a:t>
            </a:r>
          </a:p>
          <a:p>
            <a:endParaRPr lang="it-IT" dirty="0"/>
          </a:p>
          <a:p>
            <a:r>
              <a:rPr lang="it-IT" b="1" dirty="0"/>
              <a:t>Input Layer</a:t>
            </a:r>
            <a:r>
              <a:rPr lang="it-IT" dirty="0"/>
              <a:t>: </a:t>
            </a:r>
            <a:r>
              <a:rPr lang="it-IT" dirty="0" err="1"/>
              <a:t>layers.Dense</a:t>
            </a:r>
            <a:r>
              <a:rPr lang="it-IT" dirty="0"/>
              <a:t>(64, </a:t>
            </a:r>
            <a:r>
              <a:rPr lang="it-IT" dirty="0" err="1"/>
              <a:t>activation</a:t>
            </a:r>
            <a:r>
              <a:rPr lang="it-IT" dirty="0"/>
              <a:t>=</a:t>
            </a:r>
            <a:r>
              <a:rPr lang="it-IT" dirty="0" err="1"/>
              <a:t>activation_function</a:t>
            </a:r>
            <a:r>
              <a:rPr lang="it-IT" dirty="0"/>
              <a:t>, </a:t>
            </a:r>
            <a:r>
              <a:rPr lang="it-IT" dirty="0" err="1"/>
              <a:t>input_shape</a:t>
            </a:r>
            <a:r>
              <a:rPr lang="it-IT" dirty="0"/>
              <a:t>=(</a:t>
            </a:r>
            <a:r>
              <a:rPr lang="it-IT" dirty="0" err="1"/>
              <a:t>X_train_scaled.shape</a:t>
            </a:r>
            <a:r>
              <a:rPr lang="it-IT" dirty="0"/>
              <a:t>[1],))</a:t>
            </a:r>
          </a:p>
          <a:p>
            <a:endParaRPr lang="it-IT" dirty="0"/>
          </a:p>
          <a:p>
            <a:r>
              <a:rPr lang="it-IT" b="1" dirty="0"/>
              <a:t>Hidden Layer</a:t>
            </a:r>
            <a:r>
              <a:rPr lang="it-IT" dirty="0"/>
              <a:t>: </a:t>
            </a:r>
            <a:r>
              <a:rPr lang="it-IT" dirty="0" err="1"/>
              <a:t>layers.Dense</a:t>
            </a:r>
            <a:r>
              <a:rPr lang="it-IT" dirty="0"/>
              <a:t>(32, </a:t>
            </a:r>
            <a:r>
              <a:rPr lang="it-IT" dirty="0" err="1"/>
              <a:t>activation</a:t>
            </a:r>
            <a:r>
              <a:rPr lang="it-IT" dirty="0"/>
              <a:t>=</a:t>
            </a:r>
            <a:r>
              <a:rPr lang="it-IT" dirty="0" err="1"/>
              <a:t>activation_function</a:t>
            </a:r>
            <a:r>
              <a:rPr lang="it-IT" dirty="0"/>
              <a:t>)</a:t>
            </a:r>
          </a:p>
          <a:p>
            <a:endParaRPr lang="it-IT" dirty="0"/>
          </a:p>
          <a:p>
            <a:r>
              <a:rPr lang="it-IT" b="1" dirty="0"/>
              <a:t>Output Layer</a:t>
            </a:r>
            <a:r>
              <a:rPr lang="it-IT" dirty="0"/>
              <a:t>: </a:t>
            </a:r>
            <a:r>
              <a:rPr lang="it-IT" dirty="0" err="1"/>
              <a:t>layers.Dense</a:t>
            </a:r>
            <a:r>
              <a:rPr lang="it-IT" dirty="0"/>
              <a:t>(1) (for </a:t>
            </a:r>
            <a:r>
              <a:rPr lang="it-IT" dirty="0" err="1"/>
              <a:t>regression</a:t>
            </a:r>
            <a:r>
              <a:rPr lang="it-IT" dirty="0"/>
              <a:t>, linear </a:t>
            </a:r>
            <a:r>
              <a:rPr lang="it-IT" dirty="0" err="1"/>
              <a:t>activation</a:t>
            </a:r>
            <a:r>
              <a:rPr lang="it-IT" dirty="0"/>
              <a:t> by default)</a:t>
            </a:r>
          </a:p>
          <a:p>
            <a:endParaRPr lang="it-IT" dirty="0"/>
          </a:p>
          <a:p>
            <a:r>
              <a:rPr lang="it-IT" b="1" dirty="0"/>
              <a:t>Compilation</a:t>
            </a:r>
            <a:r>
              <a:rPr lang="it-IT" dirty="0"/>
              <a:t>:</a:t>
            </a:r>
          </a:p>
          <a:p>
            <a:endParaRPr lang="it-IT" dirty="0"/>
          </a:p>
          <a:p>
            <a:r>
              <a:rPr lang="it-IT" b="1" dirty="0" err="1"/>
              <a:t>Optimizer</a:t>
            </a:r>
            <a:r>
              <a:rPr lang="it-IT" dirty="0"/>
              <a:t>: </a:t>
            </a:r>
            <a:r>
              <a:rPr lang="it-IT" dirty="0" err="1"/>
              <a:t>adam</a:t>
            </a:r>
            <a:endParaRPr lang="it-IT" dirty="0"/>
          </a:p>
          <a:p>
            <a:endParaRPr lang="it-IT" dirty="0"/>
          </a:p>
          <a:p>
            <a:r>
              <a:rPr lang="it-IT" b="1" dirty="0"/>
              <a:t>Loss </a:t>
            </a:r>
            <a:r>
              <a:rPr lang="it-IT" b="1" dirty="0" err="1"/>
              <a:t>Function</a:t>
            </a:r>
            <a:r>
              <a:rPr lang="it-IT" dirty="0"/>
              <a:t>: </a:t>
            </a:r>
            <a:r>
              <a:rPr lang="it-IT" dirty="0" err="1"/>
              <a:t>mean_squared_error</a:t>
            </a:r>
            <a:endParaRPr lang="it-IT" dirty="0"/>
          </a:p>
          <a:p>
            <a:endParaRPr lang="it-IT" dirty="0"/>
          </a:p>
          <a:p>
            <a:r>
              <a:rPr lang="it-IT" b="1" dirty="0" err="1"/>
              <a:t>Metrics</a:t>
            </a:r>
            <a:r>
              <a:rPr lang="it-IT" dirty="0"/>
              <a:t>: mae, </a:t>
            </a:r>
            <a:r>
              <a:rPr lang="it-IT" dirty="0" err="1"/>
              <a:t>mse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12614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32A7EDFC-17DA-B2F2-046E-9F18BBBBAB91}"/>
              </a:ext>
            </a:extLst>
          </p:cNvPr>
          <p:cNvSpPr txBox="1"/>
          <p:nvPr/>
        </p:nvSpPr>
        <p:spPr>
          <a:xfrm>
            <a:off x="1130709" y="407648"/>
            <a:ext cx="12192000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Activation Functions Explored</a:t>
            </a:r>
          </a:p>
          <a:p>
            <a:endParaRPr lang="en-US" dirty="0"/>
          </a:p>
          <a:p>
            <a:r>
              <a:rPr lang="en-US" dirty="0"/>
              <a:t>We compared two common activation functions:</a:t>
            </a:r>
          </a:p>
          <a:p>
            <a:endParaRPr lang="en-US" dirty="0"/>
          </a:p>
          <a:p>
            <a:r>
              <a:rPr lang="en-US" b="1" dirty="0"/>
              <a:t>      </a:t>
            </a:r>
            <a:r>
              <a:rPr lang="en-US" b="1" dirty="0" err="1"/>
              <a:t>ReLU</a:t>
            </a:r>
            <a:r>
              <a:rPr lang="en-US" dirty="0"/>
              <a:t> (Rectified Linear Unit):</a:t>
            </a:r>
          </a:p>
          <a:p>
            <a:endParaRPr lang="en-US" dirty="0"/>
          </a:p>
          <a:p>
            <a:r>
              <a:rPr lang="en-US" b="1" dirty="0"/>
              <a:t>f(x) = max(0, x)</a:t>
            </a:r>
          </a:p>
          <a:p>
            <a:endParaRPr lang="en-US" dirty="0"/>
          </a:p>
          <a:p>
            <a:r>
              <a:rPr lang="en-US" b="1" dirty="0"/>
              <a:t>Advantages:</a:t>
            </a:r>
            <a:r>
              <a:rPr lang="en-US" dirty="0"/>
              <a:t> Helps mitigate the vanishing gradient problem, computationally efficient.</a:t>
            </a:r>
          </a:p>
          <a:p>
            <a:endParaRPr lang="en-US" dirty="0"/>
          </a:p>
          <a:p>
            <a:r>
              <a:rPr lang="en-US" b="1" dirty="0"/>
              <a:t>Use Case: </a:t>
            </a:r>
            <a:r>
              <a:rPr lang="en-US" dirty="0"/>
              <a:t>Popular in hidden layers for deep learning.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      Tanh</a:t>
            </a:r>
            <a:r>
              <a:rPr lang="en-US" dirty="0"/>
              <a:t> (Hyperbolic Tangent):</a:t>
            </a:r>
          </a:p>
          <a:p>
            <a:endParaRPr lang="en-US" dirty="0"/>
          </a:p>
          <a:p>
            <a:r>
              <a:rPr lang="en-US" b="1" dirty="0"/>
              <a:t>f(x) = (</a:t>
            </a:r>
            <a:r>
              <a:rPr lang="en-US" b="1" dirty="0" err="1"/>
              <a:t>e^x</a:t>
            </a:r>
            <a:r>
              <a:rPr lang="en-US" b="1" dirty="0"/>
              <a:t> - e^-x) / (</a:t>
            </a:r>
            <a:r>
              <a:rPr lang="en-US" b="1" dirty="0" err="1"/>
              <a:t>e^x</a:t>
            </a:r>
            <a:r>
              <a:rPr lang="en-US" b="1" dirty="0"/>
              <a:t> + e^-x)</a:t>
            </a:r>
          </a:p>
          <a:p>
            <a:endParaRPr lang="en-US" dirty="0"/>
          </a:p>
          <a:p>
            <a:r>
              <a:rPr lang="en-US" b="1" dirty="0"/>
              <a:t>Advantages: </a:t>
            </a:r>
            <a:r>
              <a:rPr lang="en-US" dirty="0"/>
              <a:t>Output centered at zero, which can help with optimization.</a:t>
            </a:r>
          </a:p>
          <a:p>
            <a:endParaRPr lang="en-US" dirty="0"/>
          </a:p>
          <a:p>
            <a:r>
              <a:rPr lang="en-US" b="1" dirty="0"/>
              <a:t>Disadvantages: </a:t>
            </a:r>
            <a:r>
              <a:rPr lang="en-US" dirty="0"/>
              <a:t>Still suffers from vanishing gradients for very large/small inputs.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80331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098DCD96-827C-8AD5-22D5-5C5CDC1FDA69}"/>
              </a:ext>
            </a:extLst>
          </p:cNvPr>
          <p:cNvSpPr txBox="1"/>
          <p:nvPr/>
        </p:nvSpPr>
        <p:spPr>
          <a:xfrm>
            <a:off x="334297" y="717755"/>
            <a:ext cx="12192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Model Training Process</a:t>
            </a:r>
          </a:p>
          <a:p>
            <a:endParaRPr lang="en-US" sz="4000" dirty="0"/>
          </a:p>
          <a:p>
            <a:r>
              <a:rPr lang="en-US" sz="2400" b="1" dirty="0"/>
              <a:t>Epochs</a:t>
            </a:r>
            <a:r>
              <a:rPr lang="en-US" sz="2400" dirty="0"/>
              <a:t>: 100</a:t>
            </a:r>
          </a:p>
          <a:p>
            <a:endParaRPr lang="en-US" sz="2400" b="1" dirty="0"/>
          </a:p>
          <a:p>
            <a:r>
              <a:rPr lang="en-US" sz="2400" b="1" dirty="0"/>
              <a:t>Batch Size</a:t>
            </a:r>
            <a:r>
              <a:rPr lang="en-US" sz="2400" dirty="0"/>
              <a:t>: 32</a:t>
            </a:r>
          </a:p>
          <a:p>
            <a:endParaRPr lang="en-US" sz="2400" b="1" dirty="0"/>
          </a:p>
          <a:p>
            <a:r>
              <a:rPr lang="en-US" sz="2400" b="1" dirty="0"/>
              <a:t>Validation Split</a:t>
            </a:r>
            <a:r>
              <a:rPr lang="en-US" sz="2400" dirty="0"/>
              <a:t>: 20% of training data used for validation.</a:t>
            </a:r>
          </a:p>
          <a:p>
            <a:endParaRPr lang="en-US" sz="2400" b="1" dirty="0"/>
          </a:p>
          <a:p>
            <a:r>
              <a:rPr lang="en-US" sz="2400" b="1" dirty="0"/>
              <a:t>Loss History</a:t>
            </a:r>
            <a:r>
              <a:rPr lang="en-US" sz="2400" dirty="0"/>
              <a:t>:</a:t>
            </a:r>
          </a:p>
          <a:p>
            <a:endParaRPr lang="en-US" sz="2400" b="1" dirty="0"/>
          </a:p>
          <a:p>
            <a:r>
              <a:rPr lang="en-US" sz="2400" b="1" dirty="0"/>
              <a:t>Observation</a:t>
            </a:r>
            <a:r>
              <a:rPr lang="en-US" sz="2400" dirty="0"/>
              <a:t>: Both models show decreasing training and validation loss, indicating learning. </a:t>
            </a:r>
            <a:r>
              <a:rPr lang="en-US" sz="2400" dirty="0" err="1"/>
              <a:t>ReLU</a:t>
            </a:r>
            <a:r>
              <a:rPr lang="en-US" sz="2400" dirty="0"/>
              <a:t> appears to converge faster and to a lower loss.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88769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33ED76A0-1B04-79E5-F7FA-5210FD6FE7A8}"/>
              </a:ext>
            </a:extLst>
          </p:cNvPr>
          <p:cNvSpPr txBox="1"/>
          <p:nvPr/>
        </p:nvSpPr>
        <p:spPr>
          <a:xfrm>
            <a:off x="0" y="0"/>
            <a:ext cx="12192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000" b="1" dirty="0"/>
              <a:t>Model Evaluation &amp; </a:t>
            </a:r>
            <a:r>
              <a:rPr lang="it-IT" sz="4000" b="1" dirty="0" err="1"/>
              <a:t>Comparison</a:t>
            </a:r>
            <a:endParaRPr lang="it-IT" sz="4000" b="1" dirty="0"/>
          </a:p>
          <a:p>
            <a:endParaRPr lang="it-IT" sz="4000" b="1" dirty="0"/>
          </a:p>
          <a:p>
            <a:r>
              <a:rPr lang="it-IT" sz="2800" b="1" dirty="0"/>
              <a:t>Performance </a:t>
            </a:r>
            <a:r>
              <a:rPr lang="it-IT" sz="2800" b="1" dirty="0" err="1"/>
              <a:t>Metrics</a:t>
            </a:r>
            <a:r>
              <a:rPr lang="it-IT" sz="2800" b="1" dirty="0"/>
              <a:t>:</a:t>
            </a:r>
          </a:p>
          <a:p>
            <a:endParaRPr lang="it-IT" dirty="0"/>
          </a:p>
          <a:p>
            <a:r>
              <a:rPr lang="it-IT" dirty="0"/>
              <a:t>      </a:t>
            </a:r>
          </a:p>
          <a:p>
            <a:r>
              <a:rPr lang="it-IT" dirty="0"/>
              <a:t>  </a:t>
            </a:r>
            <a:r>
              <a:rPr lang="it-IT" dirty="0" err="1"/>
              <a:t>Metric</a:t>
            </a:r>
            <a:r>
              <a:rPr lang="it-IT" dirty="0"/>
              <a:t>        </a:t>
            </a:r>
            <a:r>
              <a:rPr lang="it-IT" dirty="0" err="1"/>
              <a:t>ReLU</a:t>
            </a:r>
            <a:r>
              <a:rPr lang="it-IT" dirty="0"/>
              <a:t> Model  Tanh Model</a:t>
            </a:r>
          </a:p>
          <a:p>
            <a:r>
              <a:rPr lang="it-IT" dirty="0"/>
              <a:t>0      MSE            0.000056        0.000243</a:t>
            </a:r>
          </a:p>
          <a:p>
            <a:r>
              <a:rPr lang="it-IT" dirty="0"/>
              <a:t>1      RMSE          0.007503        0.015597</a:t>
            </a:r>
          </a:p>
          <a:p>
            <a:r>
              <a:rPr lang="it-IT" dirty="0"/>
              <a:t>2      MAE           0.004946        0.012745</a:t>
            </a:r>
          </a:p>
          <a:p>
            <a:pPr marL="342900" indent="-342900">
              <a:buAutoNum type="arabicPlain" startAt="3"/>
            </a:pPr>
            <a:r>
              <a:rPr lang="it-IT" dirty="0"/>
              <a:t>   R2 Score    0.999957        0.999814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b="1" dirty="0" err="1"/>
              <a:t>ReLU</a:t>
            </a:r>
            <a:r>
              <a:rPr lang="it-IT" b="1" dirty="0"/>
              <a:t> Model</a:t>
            </a:r>
            <a:r>
              <a:rPr lang="it-IT" dirty="0"/>
              <a:t>: </a:t>
            </a:r>
            <a:r>
              <a:rPr lang="it-IT" dirty="0" err="1"/>
              <a:t>Consistently</a:t>
            </a:r>
            <a:r>
              <a:rPr lang="it-IT" dirty="0"/>
              <a:t> </a:t>
            </a:r>
            <a:r>
              <a:rPr lang="it-IT" dirty="0" err="1"/>
              <a:t>outperforms</a:t>
            </a:r>
            <a:r>
              <a:rPr lang="it-IT" dirty="0"/>
              <a:t> the Tanh model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metrics</a:t>
            </a:r>
            <a:r>
              <a:rPr lang="it-IT" dirty="0"/>
              <a:t> (</a:t>
            </a:r>
            <a:r>
              <a:rPr lang="it-IT" dirty="0" err="1"/>
              <a:t>lower</a:t>
            </a:r>
            <a:r>
              <a:rPr lang="it-IT" dirty="0"/>
              <a:t> MSE, RMSE, MAE; </a:t>
            </a:r>
            <a:r>
              <a:rPr lang="it-IT" dirty="0" err="1"/>
              <a:t>higher</a:t>
            </a:r>
            <a:r>
              <a:rPr lang="it-IT" dirty="0"/>
              <a:t> R2 Score).</a:t>
            </a:r>
          </a:p>
          <a:p>
            <a:endParaRPr lang="it-IT" dirty="0"/>
          </a:p>
          <a:p>
            <a:r>
              <a:rPr lang="it-IT" b="1" dirty="0" err="1"/>
              <a:t>Interpretation</a:t>
            </a:r>
            <a:r>
              <a:rPr lang="it-IT" dirty="0"/>
              <a:t>: The </a:t>
            </a:r>
            <a:r>
              <a:rPr lang="it-IT" dirty="0" err="1"/>
              <a:t>ReLU</a:t>
            </a:r>
            <a:r>
              <a:rPr lang="it-IT" dirty="0"/>
              <a:t> model </a:t>
            </a:r>
            <a:r>
              <a:rPr lang="it-IT" dirty="0" err="1"/>
              <a:t>provides</a:t>
            </a:r>
            <a:r>
              <a:rPr lang="it-IT" dirty="0"/>
              <a:t> </a:t>
            </a:r>
            <a:r>
              <a:rPr lang="it-IT" dirty="0" err="1"/>
              <a:t>significantly</a:t>
            </a:r>
            <a:r>
              <a:rPr lang="it-IT" dirty="0"/>
              <a:t> more accurate </a:t>
            </a:r>
            <a:r>
              <a:rPr lang="it-IT" dirty="0" err="1"/>
              <a:t>predictions</a:t>
            </a:r>
            <a:r>
              <a:rPr lang="it-IT" dirty="0"/>
              <a:t> for housing </a:t>
            </a:r>
            <a:r>
              <a:rPr lang="it-IT" dirty="0" err="1"/>
              <a:t>values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3951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E1890E30-629A-3549-4F24-13CB1DADC507}"/>
              </a:ext>
            </a:extLst>
          </p:cNvPr>
          <p:cNvSpPr txBox="1"/>
          <p:nvPr/>
        </p:nvSpPr>
        <p:spPr>
          <a:xfrm>
            <a:off x="68826" y="1402224"/>
            <a:ext cx="12192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Prediction Visualization</a:t>
            </a:r>
          </a:p>
          <a:p>
            <a:endParaRPr lang="en-US" sz="4000" b="1" dirty="0"/>
          </a:p>
          <a:p>
            <a:r>
              <a:rPr lang="en-US" sz="2800" b="1" dirty="0"/>
              <a:t>Actual vs. Predicted Values (</a:t>
            </a:r>
            <a:r>
              <a:rPr lang="en-US" sz="2800" b="1" dirty="0" err="1"/>
              <a:t>ReLU</a:t>
            </a:r>
            <a:r>
              <a:rPr lang="en-US" sz="2800" b="1" dirty="0"/>
              <a:t> Model)</a:t>
            </a:r>
          </a:p>
          <a:p>
            <a:endParaRPr lang="en-US" sz="2800" b="1" dirty="0"/>
          </a:p>
          <a:p>
            <a:r>
              <a:rPr lang="en-US" sz="2800" b="1" dirty="0"/>
              <a:t>Observation: </a:t>
            </a:r>
            <a:r>
              <a:rPr lang="en-US" sz="2800" dirty="0"/>
              <a:t>The predictions align very closely with the actual values, clustering tightly around the ideal red dashed line. This visually confirms the high accuracy of the </a:t>
            </a:r>
            <a:r>
              <a:rPr lang="en-US" sz="2800" dirty="0" err="1"/>
              <a:t>ReLU</a:t>
            </a:r>
            <a:r>
              <a:rPr lang="en-US" sz="2800" dirty="0"/>
              <a:t> model.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189348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229D1D2B-EDA4-567B-9704-D196315558BF}"/>
              </a:ext>
            </a:extLst>
          </p:cNvPr>
          <p:cNvSpPr txBox="1"/>
          <p:nvPr/>
        </p:nvSpPr>
        <p:spPr>
          <a:xfrm>
            <a:off x="176980" y="245605"/>
            <a:ext cx="12192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Conclusion &amp; Future Work</a:t>
            </a:r>
          </a:p>
          <a:p>
            <a:endParaRPr lang="en-US" sz="4000" b="1" dirty="0"/>
          </a:p>
          <a:p>
            <a:r>
              <a:rPr lang="en-US" sz="2400" b="1" dirty="0"/>
              <a:t>Conclusion</a:t>
            </a:r>
            <a:r>
              <a:rPr lang="en-US" sz="2400" dirty="0"/>
              <a:t>: </a:t>
            </a:r>
          </a:p>
          <a:p>
            <a:r>
              <a:rPr lang="en-US" sz="2400" dirty="0"/>
              <a:t>Neural Networks are effective for regression on the California Housing dataset. The </a:t>
            </a:r>
            <a:r>
              <a:rPr lang="en-US" sz="2400" dirty="0" err="1"/>
              <a:t>ReLU</a:t>
            </a:r>
            <a:r>
              <a:rPr lang="en-US" sz="2400" dirty="0"/>
              <a:t> activation function demonstrably led to superior performance compared to Tanh in this setup.</a:t>
            </a:r>
          </a:p>
          <a:p>
            <a:endParaRPr lang="en-US" sz="2400" dirty="0"/>
          </a:p>
          <a:p>
            <a:r>
              <a:rPr lang="en-US" sz="2400" b="1" dirty="0"/>
              <a:t>Future Work</a:t>
            </a:r>
            <a:r>
              <a:rPr lang="en-US" sz="2400" dirty="0"/>
              <a:t>:</a:t>
            </a:r>
          </a:p>
          <a:p>
            <a:r>
              <a:rPr lang="en-US" sz="2400" dirty="0"/>
              <a:t>Hyperparameter tuning (e.g., learning rate, number of layers/neurons).</a:t>
            </a:r>
          </a:p>
          <a:p>
            <a:r>
              <a:rPr lang="en-US" sz="2400" dirty="0"/>
              <a:t>Exploring more complex network architectures.</a:t>
            </a:r>
          </a:p>
          <a:p>
            <a:r>
              <a:rPr lang="en-US" sz="2400" dirty="0"/>
              <a:t>Investigating other activation functions (e.g., Leaky </a:t>
            </a:r>
            <a:r>
              <a:rPr lang="en-US" sz="2400" dirty="0" err="1"/>
              <a:t>ReLU</a:t>
            </a:r>
            <a:r>
              <a:rPr lang="en-US" sz="2400" dirty="0"/>
              <a:t>, ELU).</a:t>
            </a:r>
          </a:p>
          <a:p>
            <a:r>
              <a:rPr lang="en-US" sz="2400" dirty="0"/>
              <a:t>Cross-validation for more robust evaluation.</a:t>
            </a:r>
            <a:endParaRPr lang="it-IT" sz="24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47CA64B-0338-DE06-CF16-88BABDD4B822}"/>
              </a:ext>
            </a:extLst>
          </p:cNvPr>
          <p:cNvSpPr txBox="1"/>
          <p:nvPr/>
        </p:nvSpPr>
        <p:spPr>
          <a:xfrm>
            <a:off x="250723" y="6039152"/>
            <a:ext cx="62041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dirty="0"/>
              <a:t>Thank You </a:t>
            </a:r>
            <a:r>
              <a:rPr lang="it-IT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&amp;</a:t>
            </a:r>
            <a:r>
              <a:rPr lang="it-IT" sz="2800" dirty="0"/>
              <a:t> Q </a:t>
            </a:r>
            <a:r>
              <a:rPr lang="it-IT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&amp;</a:t>
            </a:r>
            <a:r>
              <a:rPr lang="it-IT" sz="2800" dirty="0"/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28247027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e">
  <a:themeElements>
    <a:clrScheme name="Ione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e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e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335</TotalTime>
  <Words>968</Words>
  <Application>Microsoft Office PowerPoint</Application>
  <PresentationFormat>Widescreen</PresentationFormat>
  <Paragraphs>175</Paragraphs>
  <Slides>13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8" baseType="lpstr">
      <vt:lpstr>Aptos</vt:lpstr>
      <vt:lpstr>Arial</vt:lpstr>
      <vt:lpstr>Century Gothic</vt:lpstr>
      <vt:lpstr>Wingdings 3</vt:lpstr>
      <vt:lpstr>Ione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 C</dc:creator>
  <cp:lastModifiedBy>D C</cp:lastModifiedBy>
  <cp:revision>40</cp:revision>
  <dcterms:created xsi:type="dcterms:W3CDTF">2026-04-26T12:16:12Z</dcterms:created>
  <dcterms:modified xsi:type="dcterms:W3CDTF">2026-04-27T16:11:20Z</dcterms:modified>
</cp:coreProperties>
</file>